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E6E75"/>
                </a:solidFill>
                <a:latin typeface="Arial"/>
              </a:defRPr>
            </a:pPr>
            <a:r>
              <a:rPr sz="1400" b="0" i="0" u="none" strike="noStrike">
                <a:solidFill>
                  <a:srgbClr val="5E6E75"/>
                </a:solidFill>
                <a:latin typeface="Arial"/>
              </a:rPr>
              <a:t>How each quarterly line-item value was obtained</a:t>
            </a:r>
          </a:p>
        </c:rich>
      </c:tx>
      <c:layout/>
      <c:overlay val="0"/>
    </c:title>
    <c:autoTitleDeleted val="0"/>
    <c:plotArea>
      <c:layout/>
      <c:barChart>
        <c:barDir val="bar"/>
        <c:grouping val="clustered"/>
        <c:varyColors val="0"/>
        <c:ser>
          <c:idx val="0"/>
          <c:order val="0"/>
          <c:tx>
            <c:strRef>
              <c:f>Sheet1!$B$1</c:f>
              <c:strCache>
                <c:ptCount val="1"/>
                <c:pt idx="0">
                  <c:v>Quarterly values</c:v>
                </c:pt>
              </c:strCache>
            </c:strRef>
          </c:tx>
          <c:spPr>
            <a:solidFill>
              <a:srgbClr val="2E6F6A"/>
            </a:solidFill>
            <a:effectLst/>
          </c:spPr>
          <c:invertIfNegative val="0"/>
          <c:dLbls>
            <c:numFmt formatCode="#,##0" sourceLinked="0"/>
            <c:txPr>
              <a:bodyPr/>
              <a:lstStyle/>
              <a:p>
                <a:pPr>
                  <a:defRPr b="0" i="0" strike="noStrike" sz="1400" u="none">
                    <a:solidFill>
                      <a:srgbClr val="1C2A30"/>
                    </a:solidFill>
                    <a:latin typeface="Arial"/>
                  </a:defRPr>
                </a:pPr>
              </a:p>
            </c:txPr>
            <c:showLegendKey val="0"/>
            <c:showVal val="1"/>
            <c:showCatName val="0"/>
            <c:showSerName val="0"/>
            <c:showPercent val="0"/>
            <c:showBubbleSize val="0"/>
            <c:showLeaderLines val="0"/>
          </c:dLbls>
          <c:dPt>
            <c:idx val="0"/>
            <c:invertIfNegative val="0"/>
            <c:bubble3D val="0"/>
            <c:spPr>
              <a:solidFill>
                <a:srgbClr val="2E6F6A"/>
              </a:solidFill>
              <a:effectLst/>
            </c:spPr>
          </c:dPt>
          <c:dPt>
            <c:idx val="1"/>
            <c:invertIfNegative val="0"/>
            <c:bubble3D val="0"/>
            <c:spPr>
              <a:solidFill>
                <a:srgbClr val="E3A03A"/>
              </a:solidFill>
              <a:effectLst/>
            </c:spPr>
          </c:dPt>
          <c:dPt>
            <c:idx val="2"/>
            <c:invertIfNegative val="0"/>
            <c:bubble3D val="0"/>
            <c:spPr>
              <a:solidFill>
                <a:srgbClr val="13232B"/>
              </a:solidFill>
              <a:effectLst/>
            </c:spPr>
          </c:dPt>
          <c:cat>
            <c:multiLvlStrRef>
              <c:f>Sheet1!$A$2:$A$4</c:f>
              <c:multiLvlStrCache>
                <c:ptCount val="3"/>
                <c:lvl>
                  <c:pt idx="0">
                    <c:v>Reported 3-month</c:v>
                  </c:pt>
                  <c:pt idx="1">
                    <c:v>YTD difference</c:v>
                  </c:pt>
                  <c:pt idx="2">
                    <c:v>Annual minus 3Q</c:v>
                  </c:pt>
                </c:lvl>
              </c:multiLvlStrCache>
            </c:multiLvlStrRef>
          </c:cat>
          <c:val>
            <c:numRef>
              <c:f>Sheet1!$B$2:$B$4</c:f>
              <c:numCache>
                <c:formatCode>General</c:formatCode>
                <c:ptCount val="3"/>
                <c:pt idx="0">
                  <c:v>10522</c:v>
                </c:pt>
                <c:pt idx="1">
                  <c:v>4349</c:v>
                </c:pt>
                <c:pt idx="2">
                  <c:v>1</c:v>
                </c:pt>
              </c:numCache>
            </c:numRef>
          </c:val>
        </c:ser>
        <c:dLbls>
          <c:numFmt formatCode="#,##0" sourceLinked="0"/>
          <c:txPr>
            <a:bodyPr/>
            <a:lstStyle/>
            <a:p>
              <a:pPr>
                <a:defRPr b="0" i="0" strike="noStrike" sz="1400" u="none">
                  <a:solidFill>
                    <a:srgbClr val="1C2A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C2A3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E6E75"/>
                </a:solidFill>
                <a:latin typeface="Arial"/>
              </a:defRPr>
            </a:pPr>
            <a:r>
              <a:rPr sz="1400" b="0" i="0" u="none" strike="noStrike">
                <a:solidFill>
                  <a:srgbClr val="5E6E75"/>
                </a:solidFill>
                <a:latin typeface="Arial"/>
              </a:rPr>
              <a:t>Receivables coverage (all others: 100%)</a:t>
            </a:r>
          </a:p>
        </c:rich>
      </c:tx>
      <c:layout/>
      <c:overlay val="0"/>
    </c:title>
    <c:autoTitleDeleted val="0"/>
    <c:plotArea>
      <c:layout/>
      <c:barChart>
        <c:barDir val="bar"/>
        <c:grouping val="clustered"/>
        <c:varyColors val="0"/>
        <c:ser>
          <c:idx val="0"/>
          <c:order val="0"/>
          <c:tx>
            <c:strRef>
              <c:f>Sheet1!$B$1</c:f>
              <c:strCache>
                <c:ptCount val="1"/>
                <c:pt idx="0">
                  <c:v>Receivables coverage</c:v>
                </c:pt>
              </c:strCache>
            </c:strRef>
          </c:tx>
          <c:spPr>
            <a:solidFill>
              <a:srgbClr val="E3A03A"/>
            </a:solidFill>
            <a:effectLst/>
          </c:spPr>
          <c:invertIfNegative val="0"/>
          <c:dLbls>
            <c:numFmt formatCode="0%" sourceLinked="0"/>
            <c:txPr>
              <a:bodyPr/>
              <a:lstStyle/>
              <a:p>
                <a:pPr>
                  <a:defRPr b="0" i="0" strike="noStrike" sz="1300" u="none">
                    <a:solidFill>
                      <a:srgbClr val="1C2A30"/>
                    </a:solidFill>
                    <a:latin typeface="Arial"/>
                  </a:defRPr>
                </a:pPr>
              </a:p>
            </c:txPr>
            <c:showLegendKey val="0"/>
            <c:showVal val="1"/>
            <c:showCatName val="0"/>
            <c:showSerName val="0"/>
            <c:showPercent val="0"/>
            <c:showBubbleSize val="0"/>
            <c:showLeaderLines val="0"/>
          </c:dLbls>
          <c:cat>
            <c:multiLvlStrRef>
              <c:f>Sheet1!$A$2:$A$7</c:f>
              <c:multiLvlStrCache>
                <c:ptCount val="6"/>
                <c:lvl>
                  <c:pt idx="0">
                    <c:v>Target</c:v>
                  </c:pt>
                  <c:pt idx="1">
                    <c:v>Lowe’s</c:v>
                  </c:pt>
                  <c:pt idx="2">
                    <c:v>Plug Power</c:v>
                  </c:pt>
                  <c:pt idx="3">
                    <c:v>MiMedx</c:v>
                  </c:pt>
                  <c:pt idx="4">
                    <c:v>Kraft Heinz</c:v>
                  </c:pt>
                  <c:pt idx="5">
                    <c:v>Super Micro</c:v>
                  </c:pt>
                </c:lvl>
              </c:multiLvlStrCache>
            </c:multiLvlStrRef>
          </c:cat>
          <c:val>
            <c:numRef>
              <c:f>Sheet1!$B$2:$B$7</c:f>
              <c:numCache>
                <c:formatCode>General</c:formatCode>
                <c:ptCount val="6"/>
                <c:pt idx="0">
                  <c:v>0.13</c:v>
                </c:pt>
                <c:pt idx="1">
                  <c:v>0.15</c:v>
                </c:pt>
                <c:pt idx="2">
                  <c:v>0.3</c:v>
                </c:pt>
                <c:pt idx="3">
                  <c:v>0.88</c:v>
                </c:pt>
                <c:pt idx="4">
                  <c:v>0.92</c:v>
                </c:pt>
                <c:pt idx="5">
                  <c:v>0.94</c:v>
                </c:pt>
              </c:numCache>
            </c:numRef>
          </c:val>
        </c:ser>
        <c:dLbls>
          <c:numFmt formatCode="0%" sourceLinked="0"/>
          <c:txPr>
            <a:bodyPr/>
            <a:lstStyle/>
            <a:p>
              <a:pPr>
                <a:defRPr b="0" i="0" strike="noStrike" sz="1300" u="none">
                  <a:solidFill>
                    <a:srgbClr val="1C2A3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C2A30"/>
                </a:solidFill>
                <a:latin typeface="Arial"/>
              </a:defRPr>
            </a:pPr>
            <a:endParaRPr lang="en-US"/>
          </a:p>
        </c:txPr>
        <c:crossAx val="2094734552"/>
        <c:crosses val="autoZero"/>
        <c:auto val="1"/>
        <c:lblAlgn val="ctr"/>
        <c:noMultiLvlLbl val="1"/>
      </c:catAx>
      <c:valAx>
        <c:axId val="2094734552"/>
        <c:scaling>
          <c:orientation val="minMax"/>
          <c:max val="1.1"/>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E6E75"/>
                </a:solidFill>
                <a:latin typeface="Arial"/>
              </a:defRPr>
            </a:pPr>
            <a:r>
              <a:rPr sz="1400" b="0" i="0" u="none" strike="noStrike">
                <a:solidFill>
                  <a:srgbClr val="5E6E75"/>
                </a:solidFill>
                <a:latin typeface="Arial"/>
              </a:rPr>
              <a:t>Top 10 quarters by largest trailing |Z-score|</a:t>
            </a:r>
          </a:p>
        </c:rich>
      </c:tx>
      <c:layout/>
      <c:overlay val="0"/>
    </c:title>
    <c:autoTitleDeleted val="0"/>
    <c:plotArea>
      <c:layout/>
      <c:barChart>
        <c:barDir val="bar"/>
        <c:grouping val="clustered"/>
        <c:varyColors val="0"/>
        <c:ser>
          <c:idx val="0"/>
          <c:order val="0"/>
          <c:tx>
            <c:strRef>
              <c:f>Sheet1!$B$1</c:f>
              <c:strCache>
                <c:ptCount val="1"/>
                <c:pt idx="0">
                  <c:v>Max |Z|</c:v>
                </c:pt>
              </c:strCache>
            </c:strRef>
          </c:tx>
          <c:spPr>
            <a:solidFill>
              <a:srgbClr val="13232B"/>
            </a:solidFill>
            <a:effectLst/>
          </c:spPr>
          <c:invertIfNegative val="0"/>
          <c:dLbls>
            <c:numFmt formatCode="0.0" sourceLinked="0"/>
            <c:txPr>
              <a:bodyPr/>
              <a:lstStyle/>
              <a:p>
                <a:pPr>
                  <a:defRPr b="0" i="0" strike="noStrike" sz="1200" u="none">
                    <a:solidFill>
                      <a:srgbClr val="1C2A3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KHC Q4 2018</c:v>
                  </c:pt>
                  <c:pt idx="1">
                    <c:v>CSCO FY18 Q2</c:v>
                  </c:pt>
                  <c:pt idx="2">
                    <c:v>ORCL FY22 Q2</c:v>
                  </c:pt>
                  <c:pt idx="3">
                    <c:v>ORCL FY16 Q2</c:v>
                  </c:pt>
                  <c:pt idx="4">
                    <c:v>PG FY19 Q4</c:v>
                  </c:pt>
                  <c:pt idx="5">
                    <c:v>KHC Q3 2015</c:v>
                  </c:pt>
                  <c:pt idx="6">
                    <c:v>NKE FY20 Q4</c:v>
                  </c:pt>
                  <c:pt idx="7">
                    <c:v>KHC Q2 2025</c:v>
                  </c:pt>
                  <c:pt idx="8">
                    <c:v>ADBE FY24 Q1</c:v>
                  </c:pt>
                  <c:pt idx="9">
                    <c:v>MSFT FY15 Q4</c:v>
                  </c:pt>
                </c:lvl>
              </c:multiLvlStrCache>
            </c:multiLvlStrRef>
          </c:cat>
          <c:val>
            <c:numRef>
              <c:f>Sheet1!$B$2:$B$11</c:f>
              <c:numCache>
                <c:formatCode>General</c:formatCode>
                <c:ptCount val="10"/>
                <c:pt idx="0">
                  <c:v>60.6</c:v>
                </c:pt>
                <c:pt idx="1">
                  <c:v>30</c:v>
                </c:pt>
                <c:pt idx="2">
                  <c:v>23.4</c:v>
                </c:pt>
                <c:pt idx="3">
                  <c:v>22</c:v>
                </c:pt>
                <c:pt idx="4">
                  <c:v>21.9</c:v>
                </c:pt>
                <c:pt idx="5">
                  <c:v>17.1</c:v>
                </c:pt>
                <c:pt idx="6">
                  <c:v>16</c:v>
                </c:pt>
                <c:pt idx="7">
                  <c:v>14.7</c:v>
                </c:pt>
                <c:pt idx="8">
                  <c:v>14.1</c:v>
                </c:pt>
                <c:pt idx="9">
                  <c:v>12.7</c:v>
                </c:pt>
              </c:numCache>
            </c:numRef>
          </c:val>
        </c:ser>
        <c:dLbls>
          <c:numFmt formatCode="0.0" sourceLinked="0"/>
          <c:txPr>
            <a:bodyPr/>
            <a:lstStyle/>
            <a:p>
              <a:pPr>
                <a:defRPr b="0" i="0" strike="noStrike" sz="1200" u="none">
                  <a:solidFill>
                    <a:srgbClr val="1C2A3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2A3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Deliverable 1: how we extracted and cleaned SEC financial data and turned it into a feature dataset ready for anomaly detection. The headline: 26 companies, 1,334 company-quarters, 94 features, all traceable back to individual SEC filings.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project has two halves. The business goal is spotting reporting anomalies that could indicate fraud. The ML goal is statistical anomaly detection. This first deliverable is the foundation: without a clean, consistent dataset, any anomaly model mostly finds data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numbers from the final run. Over 106 thousand raw facts collapse to about 47.5 thousand unique ones, because the same quarter is reported several times across filings. The 1,993 changed facts are restatements or recasts, which are themselves a fraud signal. 93.4% of company-years reconcile exactly; the rest are flagged, not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comes from three free SEC endpoints, no API key needed. The companyfacts endpoint is the core: every XBRL fact a company has ever filed, with the exact filing it came from. We deliberately picked two groups: 20 large control companies and 6 companies with publicly reported restatements or SEC actions, which give us rough labels to test the models against in Deliverable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runs top to bottom in one notebook. The highlighted step, quarterisation, is the hardest: companies never file a Q4 on its own, and cash flow statements in 10-Qs are year-to-date, so discrete quarters have to be reconstructed.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about 14,900 quarterly line-item values, 4,349 came from differencing year-to-date totals. That includes every Q4. We also handle 52/53-week fiscal years and retailers with uneven quarters, so period lengths vary from 84 to 112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important lesson from running on real data. Our first version used the latest restated numbers, and after spin-offs that mixes accounting vintages: 3M showed Q4 2022 revenue of 11 million dollars instead of about 8 billion. Switching to as-first-reported values fixed this and is also the standard choice in fraud research, because it reflects what investors actually saw and the restatement becomes a signal rather than a silent overwrite.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are ratios and growth rates rather than raw dollars, so a 400-billion-dollar retailer and a small biotech are comparable. The earnings-quality family targets classic manipulation patterns: receivables growing faster than sales suggests channel stuffing, and high accruals mean earnings not backed by cash. The annual file adds the Beneish M-Score, a well-established manipulation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very strong for the core items. Receivables are the weak spot for a few companies that use unusual tags, mainly Target and Lowe’s. 21 of 318 company-years fail the quarter-versus-annual check. Those rows are flagged with dq_quarter_sum_mismatch and can be excluded from modelling. Interestingly, several are Under Armour, one of our reference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sanity check we ranked quarters by their largest trailing Z-score, excluding flagged rows. Nine of the top ten match documented events: impairments, a tax-reform charge, litigation, a merger and COVID. That confirms the features capture sudden deviations. It also shows the key challenge for Deliverable 2: disclosed one-off charges are loud but legitimate, so the models need to focus on earnings-quality patterns such as receivables and accruals, not just size of the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about limitations. None of these block modelling, and each has a mitigation built into the dataset: flags, coverage reports or provenance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reproducible from one notebook. The main deliverable is quarterly_features.csv. facts_long is the audit trail: every number maps to an SEC accession number. The data dictionary documents all 128 columns across the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2 builds directly on this dataset. The Z-scores are already computed, so the baseline is immediate. Isolation Forest will run on company-standardised ratio features. Evaluation compares reference and control companies and checks whether scores rise around known event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2B"/>
        </a:solidFill>
      </p:bgPr>
    </p:bg>
    <p:spTree>
      <p:nvGrpSpPr>
        <p:cNvPr id="1" name=""/>
        <p:cNvGrpSpPr/>
        <p:nvPr/>
      </p:nvGrpSpPr>
      <p:grpSpPr>
        <a:xfrm>
          <a:off x="0" y="0"/>
          <a:ext cx="0" cy="0"/>
          <a:chOff x="0" y="0"/>
          <a:chExt cx="0" cy="0"/>
        </a:xfrm>
      </p:grpSpPr>
      <p:sp>
        <p:nvSpPr>
          <p:cNvPr id="2" name="Shape 0"/>
          <p:cNvSpPr/>
          <p:nvPr/>
        </p:nvSpPr>
        <p:spPr>
          <a:xfrm>
            <a:off x="548640" y="822960"/>
            <a:ext cx="822960" cy="822960"/>
          </a:xfrm>
          <a:prstGeom prst="ellipse">
            <a:avLst/>
          </a:prstGeom>
          <a:solidFill>
            <a:srgbClr val="E3A03A"/>
          </a:solidFill>
          <a:ln w="12700">
            <a:solidFill>
              <a:srgbClr val="E3A03A"/>
            </a:solidFill>
            <a:prstDash val="solid"/>
          </a:ln>
        </p:spPr>
      </p:sp>
      <p:pic>
        <p:nvPicPr>
          <p:cNvPr id="3" name="Image 0" descr="preencoded.png">    </p:cNvPr>
          <p:cNvPicPr>
            <a:picLocks noChangeAspect="1"/>
          </p:cNvPicPr>
          <p:nvPr/>
        </p:nvPicPr>
        <p:blipFill>
          <a:blip r:embed="rId1"/>
          <a:stretch>
            <a:fillRect/>
          </a:stretch>
        </p:blipFill>
        <p:spPr>
          <a:xfrm>
            <a:off x="762610" y="1036930"/>
            <a:ext cx="395021" cy="395021"/>
          </a:xfrm>
          <a:prstGeom prst="rect">
            <a:avLst/>
          </a:prstGeom>
        </p:spPr>
      </p:pic>
      <p:sp>
        <p:nvSpPr>
          <p:cNvPr id="4" name="Text 1"/>
          <p:cNvSpPr txBox="1"/>
          <p:nvPr/>
        </p:nvSpPr>
        <p:spPr>
          <a:xfrm>
            <a:off x="548640" y="2011680"/>
            <a:ext cx="9144000" cy="320040"/>
          </a:xfrm>
          <a:prstGeom prst="rect">
            <a:avLst/>
          </a:prstGeom>
          <a:noFill/>
          <a:ln/>
        </p:spPr>
        <p:txBody>
          <a:bodyPr wrap="square" lIns="0" tIns="0" rIns="0" bIns="0" rtlCol="0" anchor="ctr"/>
          <a:lstStyle/>
          <a:p>
            <a:pPr indent="0" marL="0">
              <a:buNone/>
            </a:pPr>
            <a:r>
              <a:rPr lang="en-US" sz="1400" b="1" spc="400" kern="0" dirty="0">
                <a:solidFill>
                  <a:srgbClr val="E3A03A"/>
                </a:solidFill>
                <a:latin typeface="Calibri" pitchFamily="34" charset="0"/>
                <a:ea typeface="Calibri" pitchFamily="34" charset="-122"/>
                <a:cs typeface="Calibri" pitchFamily="34" charset="-120"/>
              </a:rPr>
              <a:t>DELIVERABLE 1  ·  DATA EXTRACTION</a:t>
            </a:r>
            <a:endParaRPr lang="en-US" sz="1400" dirty="0"/>
          </a:p>
        </p:txBody>
      </p:sp>
      <p:sp>
        <p:nvSpPr>
          <p:cNvPr id="5" name="Text 2"/>
          <p:cNvSpPr txBox="1"/>
          <p:nvPr/>
        </p:nvSpPr>
        <p:spPr>
          <a:xfrm>
            <a:off x="548640" y="2423160"/>
            <a:ext cx="10515600" cy="17373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Detecting Financial Anomalies</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in SEC Filings</a:t>
            </a:r>
            <a:endParaRPr lang="en-US" sz="4800" dirty="0"/>
          </a:p>
        </p:txBody>
      </p:sp>
      <p:sp>
        <p:nvSpPr>
          <p:cNvPr id="6" name="Text 3"/>
          <p:cNvSpPr txBox="1"/>
          <p:nvPr/>
        </p:nvSpPr>
        <p:spPr>
          <a:xfrm>
            <a:off x="548640" y="4297680"/>
            <a:ext cx="9601200" cy="822960"/>
          </a:xfrm>
          <a:prstGeom prst="rect">
            <a:avLst/>
          </a:prstGeom>
          <a:noFill/>
          <a:ln/>
        </p:spPr>
        <p:txBody>
          <a:bodyPr wrap="square" lIns="0" tIns="0" rIns="0" bIns="0" rtlCol="0" anchor="ctr"/>
          <a:lstStyle/>
          <a:p>
            <a:pPr indent="0" marL="0">
              <a:buNone/>
            </a:pPr>
            <a:r>
              <a:rPr lang="en-US" sz="1800" dirty="0">
                <a:solidFill>
                  <a:srgbClr val="C9D3D6"/>
                </a:solidFill>
                <a:latin typeface="Calibri" pitchFamily="34" charset="0"/>
                <a:ea typeface="Calibri" pitchFamily="34" charset="-122"/>
                <a:cs typeface="Calibri" pitchFamily="34" charset="-120"/>
              </a:rPr>
              <a:t>Building a point-in-time secondary dataset from 12 years of EDGAR XBRL filings for Z-score and Isolation Forest anomaly detection</a:t>
            </a:r>
            <a:endParaRPr lang="en-US" sz="1800" dirty="0"/>
          </a:p>
        </p:txBody>
      </p:sp>
      <p:sp>
        <p:nvSpPr>
          <p:cNvPr id="7" name="Text 4"/>
          <p:cNvSpPr txBox="1"/>
          <p:nvPr/>
        </p:nvSpPr>
        <p:spPr>
          <a:xfrm>
            <a:off x="548640" y="5760720"/>
            <a:ext cx="10058400" cy="320040"/>
          </a:xfrm>
          <a:prstGeom prst="rect">
            <a:avLst/>
          </a:prstGeom>
          <a:noFill/>
          <a:ln/>
        </p:spPr>
        <p:txBody>
          <a:bodyPr wrap="square" lIns="0" tIns="0" rIns="0" bIns="0" rtlCol="0" anchor="ctr"/>
          <a:lstStyle/>
          <a:p>
            <a:pPr indent="0" marL="0">
              <a:buNone/>
            </a:pPr>
            <a:r>
              <a:rPr lang="en-US" sz="1400" dirty="0">
                <a:solidFill>
                  <a:srgbClr val="E3A03A"/>
                </a:solidFill>
                <a:latin typeface="Calibri" pitchFamily="34" charset="0"/>
                <a:ea typeface="Calibri" pitchFamily="34" charset="-122"/>
                <a:cs typeface="Calibri" pitchFamily="34" charset="-120"/>
              </a:rPr>
              <a:t>26 companies  ·  1,334 company-quarters  ·  94 features  ·  FY2014–FY2026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OBJECTIVE</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Find the numbers that don’t fit the story</a:t>
            </a:r>
            <a:endParaRPr lang="en-US" sz="3200" dirty="0"/>
          </a:p>
        </p:txBody>
      </p:sp>
      <p:sp>
        <p:nvSpPr>
          <p:cNvPr id="4" name="Shape 2"/>
          <p:cNvSpPr/>
          <p:nvPr/>
        </p:nvSpPr>
        <p:spPr>
          <a:xfrm>
            <a:off x="548640" y="2011680"/>
            <a:ext cx="3520440" cy="3291840"/>
          </a:xfrm>
          <a:prstGeom prst="rect">
            <a:avLst/>
          </a:prstGeom>
          <a:solidFill>
            <a:srgbClr val="F1F4F4"/>
          </a:solidFill>
          <a:ln w="12700">
            <a:solidFill>
              <a:srgbClr val="F1F4F4"/>
            </a:solidFill>
            <a:prstDash val="solid"/>
          </a:ln>
        </p:spPr>
      </p:sp>
      <p:sp>
        <p:nvSpPr>
          <p:cNvPr id="5" name="Shape 3"/>
          <p:cNvSpPr/>
          <p:nvPr/>
        </p:nvSpPr>
        <p:spPr>
          <a:xfrm>
            <a:off x="914400" y="2377440"/>
            <a:ext cx="777240" cy="777240"/>
          </a:xfrm>
          <a:prstGeom prst="ellipse">
            <a:avLst/>
          </a:prstGeom>
          <a:solidFill>
            <a:srgbClr val="E3A03A"/>
          </a:solidFill>
          <a:ln w="12700">
            <a:solidFill>
              <a:srgbClr val="E3A03A"/>
            </a:solidFill>
            <a:prstDash val="solid"/>
          </a:ln>
        </p:spPr>
      </p:sp>
      <p:pic>
        <p:nvPicPr>
          <p:cNvPr id="6" name="Image 0" descr="preencoded.png">    </p:cNvPr>
          <p:cNvPicPr>
            <a:picLocks noChangeAspect="1"/>
          </p:cNvPicPr>
          <p:nvPr/>
        </p:nvPicPr>
        <p:blipFill>
          <a:blip r:embed="rId1"/>
          <a:stretch>
            <a:fillRect/>
          </a:stretch>
        </p:blipFill>
        <p:spPr>
          <a:xfrm>
            <a:off x="1116482" y="2579522"/>
            <a:ext cx="373075" cy="373075"/>
          </a:xfrm>
          <a:prstGeom prst="rect">
            <a:avLst/>
          </a:prstGeom>
        </p:spPr>
      </p:pic>
      <p:sp>
        <p:nvSpPr>
          <p:cNvPr id="7" name="Text 4"/>
          <p:cNvSpPr txBox="1"/>
          <p:nvPr/>
        </p:nvSpPr>
        <p:spPr>
          <a:xfrm>
            <a:off x="914400" y="3383280"/>
            <a:ext cx="2788920" cy="457200"/>
          </a:xfrm>
          <a:prstGeom prst="rect">
            <a:avLst/>
          </a:prstGeom>
          <a:noFill/>
          <a:ln/>
        </p:spPr>
        <p:txBody>
          <a:bodyPr wrap="square" lIns="0" tIns="0" rIns="0" bIns="0" rtlCol="0" anchor="ctr"/>
          <a:lstStyle/>
          <a:p>
            <a:pPr indent="0" marL="0">
              <a:buNone/>
            </a:pPr>
            <a:r>
              <a:rPr lang="en-US" sz="2000" b="1" dirty="0">
                <a:solidFill>
                  <a:srgbClr val="13232B"/>
                </a:solidFill>
                <a:latin typeface="Cambria" pitchFamily="34" charset="0"/>
                <a:ea typeface="Cambria" pitchFamily="34" charset="-122"/>
                <a:cs typeface="Cambria" pitchFamily="34" charset="-120"/>
              </a:rPr>
              <a:t>Business objective</a:t>
            </a:r>
            <a:endParaRPr lang="en-US" sz="2000" dirty="0"/>
          </a:p>
        </p:txBody>
      </p:sp>
      <p:sp>
        <p:nvSpPr>
          <p:cNvPr id="8" name="Text 5"/>
          <p:cNvSpPr txBox="1"/>
          <p:nvPr/>
        </p:nvSpPr>
        <p:spPr>
          <a:xfrm>
            <a:off x="914400" y="3931920"/>
            <a:ext cx="2788920" cy="1828800"/>
          </a:xfrm>
          <a:prstGeom prst="rect">
            <a:avLst/>
          </a:prstGeom>
          <a:noFill/>
          <a:ln/>
        </p:spPr>
        <p:txBody>
          <a:bodyPr wrap="square" lIns="0" tIns="0" rIns="0" bIns="0" rtlCol="0" anchor="t"/>
          <a:lstStyle/>
          <a:p>
            <a:pPr indent="0" marL="0">
              <a:buNone/>
            </a:pPr>
            <a:r>
              <a:rPr lang="en-US" sz="1500" dirty="0">
                <a:solidFill>
                  <a:srgbClr val="1C2A30"/>
                </a:solidFill>
                <a:latin typeface="Calibri" pitchFamily="34" charset="0"/>
                <a:ea typeface="Calibri" pitchFamily="34" charset="-122"/>
                <a:cs typeface="Calibri" pitchFamily="34" charset="-120"/>
              </a:rPr>
              <a:t>Identify financial anomalies in SEC filings that could indicate fraud or earnings manipulation, before they surface as restatements or enforcement actions.</a:t>
            </a:r>
            <a:endParaRPr lang="en-US" sz="1500" dirty="0"/>
          </a:p>
        </p:txBody>
      </p:sp>
      <p:sp>
        <p:nvSpPr>
          <p:cNvPr id="9" name="Shape 6"/>
          <p:cNvSpPr/>
          <p:nvPr/>
        </p:nvSpPr>
        <p:spPr>
          <a:xfrm>
            <a:off x="4343400" y="2011680"/>
            <a:ext cx="3520440" cy="3291840"/>
          </a:xfrm>
          <a:prstGeom prst="rect">
            <a:avLst/>
          </a:prstGeom>
          <a:solidFill>
            <a:srgbClr val="F1F4F4"/>
          </a:solidFill>
          <a:ln w="12700">
            <a:solidFill>
              <a:srgbClr val="F1F4F4"/>
            </a:solidFill>
            <a:prstDash val="solid"/>
          </a:ln>
        </p:spPr>
      </p:sp>
      <p:sp>
        <p:nvSpPr>
          <p:cNvPr id="10" name="Shape 7"/>
          <p:cNvSpPr/>
          <p:nvPr/>
        </p:nvSpPr>
        <p:spPr>
          <a:xfrm>
            <a:off x="4709160" y="2377440"/>
            <a:ext cx="777240" cy="777240"/>
          </a:xfrm>
          <a:prstGeom prst="ellipse">
            <a:avLst/>
          </a:prstGeom>
          <a:solidFill>
            <a:srgbClr val="E3A03A"/>
          </a:solidFill>
          <a:ln w="12700">
            <a:solidFill>
              <a:srgbClr val="E3A03A"/>
            </a:solidFill>
            <a:prstDash val="solid"/>
          </a:ln>
        </p:spPr>
      </p:sp>
      <p:pic>
        <p:nvPicPr>
          <p:cNvPr id="11" name="Image 1" descr="preencoded.png">    </p:cNvPr>
          <p:cNvPicPr>
            <a:picLocks noChangeAspect="1"/>
          </p:cNvPicPr>
          <p:nvPr/>
        </p:nvPicPr>
        <p:blipFill>
          <a:blip r:embed="rId2"/>
          <a:stretch>
            <a:fillRect/>
          </a:stretch>
        </p:blipFill>
        <p:spPr>
          <a:xfrm>
            <a:off x="4911242" y="2579522"/>
            <a:ext cx="373075" cy="373075"/>
          </a:xfrm>
          <a:prstGeom prst="rect">
            <a:avLst/>
          </a:prstGeom>
        </p:spPr>
      </p:pic>
      <p:sp>
        <p:nvSpPr>
          <p:cNvPr id="12" name="Text 8"/>
          <p:cNvSpPr txBox="1"/>
          <p:nvPr/>
        </p:nvSpPr>
        <p:spPr>
          <a:xfrm>
            <a:off x="4709160" y="3383280"/>
            <a:ext cx="2788920" cy="457200"/>
          </a:xfrm>
          <a:prstGeom prst="rect">
            <a:avLst/>
          </a:prstGeom>
          <a:noFill/>
          <a:ln/>
        </p:spPr>
        <p:txBody>
          <a:bodyPr wrap="square" lIns="0" tIns="0" rIns="0" bIns="0" rtlCol="0" anchor="ctr"/>
          <a:lstStyle/>
          <a:p>
            <a:pPr indent="0" marL="0">
              <a:buNone/>
            </a:pPr>
            <a:r>
              <a:rPr lang="en-US" sz="2000" b="1" dirty="0">
                <a:solidFill>
                  <a:srgbClr val="13232B"/>
                </a:solidFill>
                <a:latin typeface="Cambria" pitchFamily="34" charset="0"/>
                <a:ea typeface="Cambria" pitchFamily="34" charset="-122"/>
                <a:cs typeface="Cambria" pitchFamily="34" charset="-120"/>
              </a:rPr>
              <a:t>ML objective</a:t>
            </a:r>
            <a:endParaRPr lang="en-US" sz="2000" dirty="0"/>
          </a:p>
        </p:txBody>
      </p:sp>
      <p:sp>
        <p:nvSpPr>
          <p:cNvPr id="13" name="Text 9"/>
          <p:cNvSpPr txBox="1"/>
          <p:nvPr/>
        </p:nvSpPr>
        <p:spPr>
          <a:xfrm>
            <a:off x="4709160" y="3931920"/>
            <a:ext cx="2788920" cy="1828800"/>
          </a:xfrm>
          <a:prstGeom prst="rect">
            <a:avLst/>
          </a:prstGeom>
          <a:noFill/>
          <a:ln/>
        </p:spPr>
        <p:txBody>
          <a:bodyPr wrap="square" lIns="0" tIns="0" rIns="0" bIns="0" rtlCol="0" anchor="t"/>
          <a:lstStyle/>
          <a:p>
            <a:pPr indent="0" marL="0">
              <a:buNone/>
            </a:pPr>
            <a:r>
              <a:rPr lang="en-US" sz="1500" dirty="0">
                <a:solidFill>
                  <a:srgbClr val="1C2A30"/>
                </a:solidFill>
                <a:latin typeface="Calibri" pitchFamily="34" charset="0"/>
                <a:ea typeface="Calibri" pitchFamily="34" charset="-122"/>
                <a:cs typeface="Calibri" pitchFamily="34" charset="-120"/>
              </a:rPr>
              <a:t>Apply statistical anomaly detection (Z-score, Isolation Forest) and compare multi-year trends to catch sudden deviations in revenue, expenses and margins.</a:t>
            </a:r>
            <a:endParaRPr lang="en-US" sz="1500" dirty="0"/>
          </a:p>
        </p:txBody>
      </p:sp>
      <p:sp>
        <p:nvSpPr>
          <p:cNvPr id="14" name="Shape 10"/>
          <p:cNvSpPr/>
          <p:nvPr/>
        </p:nvSpPr>
        <p:spPr>
          <a:xfrm>
            <a:off x="8138160" y="2011680"/>
            <a:ext cx="3520440" cy="3291840"/>
          </a:xfrm>
          <a:prstGeom prst="rect">
            <a:avLst/>
          </a:prstGeom>
          <a:solidFill>
            <a:srgbClr val="F1F4F4"/>
          </a:solidFill>
          <a:ln w="12700">
            <a:solidFill>
              <a:srgbClr val="F1F4F4"/>
            </a:solidFill>
            <a:prstDash val="solid"/>
          </a:ln>
        </p:spPr>
      </p:sp>
      <p:sp>
        <p:nvSpPr>
          <p:cNvPr id="15" name="Shape 11"/>
          <p:cNvSpPr/>
          <p:nvPr/>
        </p:nvSpPr>
        <p:spPr>
          <a:xfrm>
            <a:off x="8503920" y="2377440"/>
            <a:ext cx="777240" cy="777240"/>
          </a:xfrm>
          <a:prstGeom prst="ellipse">
            <a:avLst/>
          </a:prstGeom>
          <a:solidFill>
            <a:srgbClr val="E3A03A"/>
          </a:solidFill>
          <a:ln w="12700">
            <a:solidFill>
              <a:srgbClr val="E3A03A"/>
            </a:solidFill>
            <a:prstDash val="solid"/>
          </a:ln>
        </p:spPr>
      </p:sp>
      <p:pic>
        <p:nvPicPr>
          <p:cNvPr id="16" name="Image 2" descr="preencoded.png">    </p:cNvPr>
          <p:cNvPicPr>
            <a:picLocks noChangeAspect="1"/>
          </p:cNvPicPr>
          <p:nvPr/>
        </p:nvPicPr>
        <p:blipFill>
          <a:blip r:embed="rId3"/>
          <a:stretch>
            <a:fillRect/>
          </a:stretch>
        </p:blipFill>
        <p:spPr>
          <a:xfrm>
            <a:off x="8706002" y="2579522"/>
            <a:ext cx="373075" cy="373075"/>
          </a:xfrm>
          <a:prstGeom prst="rect">
            <a:avLst/>
          </a:prstGeom>
        </p:spPr>
      </p:pic>
      <p:sp>
        <p:nvSpPr>
          <p:cNvPr id="17" name="Text 12"/>
          <p:cNvSpPr txBox="1"/>
          <p:nvPr/>
        </p:nvSpPr>
        <p:spPr>
          <a:xfrm>
            <a:off x="8503920" y="3383280"/>
            <a:ext cx="2788920" cy="457200"/>
          </a:xfrm>
          <a:prstGeom prst="rect">
            <a:avLst/>
          </a:prstGeom>
          <a:noFill/>
          <a:ln/>
        </p:spPr>
        <p:txBody>
          <a:bodyPr wrap="square" lIns="0" tIns="0" rIns="0" bIns="0" rtlCol="0" anchor="ctr"/>
          <a:lstStyle/>
          <a:p>
            <a:pPr indent="0" marL="0">
              <a:buNone/>
            </a:pPr>
            <a:r>
              <a:rPr lang="en-US" sz="2000" b="1" dirty="0">
                <a:solidFill>
                  <a:srgbClr val="13232B"/>
                </a:solidFill>
                <a:latin typeface="Cambria" pitchFamily="34" charset="0"/>
                <a:ea typeface="Cambria" pitchFamily="34" charset="-122"/>
                <a:cs typeface="Cambria" pitchFamily="34" charset="-120"/>
              </a:rPr>
              <a:t>This deliverable</a:t>
            </a:r>
            <a:endParaRPr lang="en-US" sz="2000" dirty="0"/>
          </a:p>
        </p:txBody>
      </p:sp>
      <p:sp>
        <p:nvSpPr>
          <p:cNvPr id="18" name="Text 13"/>
          <p:cNvSpPr txBox="1"/>
          <p:nvPr/>
        </p:nvSpPr>
        <p:spPr>
          <a:xfrm>
            <a:off x="8503920" y="3931920"/>
            <a:ext cx="2788920" cy="1828800"/>
          </a:xfrm>
          <a:prstGeom prst="rect">
            <a:avLst/>
          </a:prstGeom>
          <a:noFill/>
          <a:ln/>
        </p:spPr>
        <p:txBody>
          <a:bodyPr wrap="square" lIns="0" tIns="0" rIns="0" bIns="0" rtlCol="0" anchor="t"/>
          <a:lstStyle/>
          <a:p>
            <a:pPr indent="0" marL="0">
              <a:buNone/>
            </a:pPr>
            <a:r>
              <a:rPr lang="en-US" sz="1500" dirty="0">
                <a:solidFill>
                  <a:srgbClr val="1C2A30"/>
                </a:solidFill>
                <a:latin typeface="Calibri" pitchFamily="34" charset="0"/>
                <a:ea typeface="Calibri" pitchFamily="34" charset="-122"/>
                <a:cs typeface="Calibri" pitchFamily="34" charset="-120"/>
              </a:rPr>
              <a:t>Extract 5+ years of financial statements from EDGAR and engineer a clean, documented secondary dataset (CSV) with anomaly-oriented features.</a:t>
            </a:r>
            <a:endParaRPr lang="en-US" sz="1500" dirty="0"/>
          </a:p>
        </p:txBody>
      </p:sp>
      <p:sp>
        <p:nvSpPr>
          <p:cNvPr id="19" name="Text 14"/>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20" name="Text 15"/>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AT A GLANCE</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What the pipeline produced</a:t>
            </a:r>
            <a:endParaRPr lang="en-US" sz="3200" dirty="0"/>
          </a:p>
        </p:txBody>
      </p:sp>
      <p:sp>
        <p:nvSpPr>
          <p:cNvPr id="4" name="Shape 2"/>
          <p:cNvSpPr/>
          <p:nvPr/>
        </p:nvSpPr>
        <p:spPr>
          <a:xfrm>
            <a:off x="548640" y="1691640"/>
            <a:ext cx="3520440" cy="1920240"/>
          </a:xfrm>
          <a:prstGeom prst="rect">
            <a:avLst/>
          </a:prstGeom>
          <a:solidFill>
            <a:srgbClr val="F1F4F4"/>
          </a:solidFill>
          <a:ln w="12700">
            <a:solidFill>
              <a:srgbClr val="F1F4F4"/>
            </a:solidFill>
            <a:prstDash val="solid"/>
          </a:ln>
        </p:spPr>
      </p:sp>
      <p:sp>
        <p:nvSpPr>
          <p:cNvPr id="5" name="Text 3"/>
          <p:cNvSpPr txBox="1"/>
          <p:nvPr/>
        </p:nvSpPr>
        <p:spPr>
          <a:xfrm>
            <a:off x="868680" y="1965960"/>
            <a:ext cx="2880360" cy="868680"/>
          </a:xfrm>
          <a:prstGeom prst="rect">
            <a:avLst/>
          </a:prstGeom>
          <a:noFill/>
          <a:ln/>
        </p:spPr>
        <p:txBody>
          <a:bodyPr wrap="square" lIns="0" tIns="0" rIns="0" bIns="0" rtlCol="0" anchor="ctr"/>
          <a:lstStyle/>
          <a:p>
            <a:pPr indent="0" marL="0">
              <a:buNone/>
            </a:pPr>
            <a:r>
              <a:rPr lang="en-US" sz="4800" b="1" dirty="0">
                <a:solidFill>
                  <a:srgbClr val="13232B"/>
                </a:solidFill>
                <a:latin typeface="Cambria" pitchFamily="34" charset="0"/>
                <a:ea typeface="Cambria" pitchFamily="34" charset="-122"/>
                <a:cs typeface="Cambria" pitchFamily="34" charset="-120"/>
              </a:rPr>
              <a:t>106,153</a:t>
            </a:r>
            <a:endParaRPr lang="en-US" sz="4800" dirty="0"/>
          </a:p>
        </p:txBody>
      </p:sp>
      <p:sp>
        <p:nvSpPr>
          <p:cNvPr id="6" name="Text 4"/>
          <p:cNvSpPr txBox="1"/>
          <p:nvPr/>
        </p:nvSpPr>
        <p:spPr>
          <a:xfrm>
            <a:off x="868680" y="2880360"/>
            <a:ext cx="2880360" cy="5486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raw XBRL facts downloaded from EDGAR</a:t>
            </a:r>
            <a:endParaRPr lang="en-US" sz="1400" dirty="0"/>
          </a:p>
        </p:txBody>
      </p:sp>
      <p:sp>
        <p:nvSpPr>
          <p:cNvPr id="7" name="Shape 5"/>
          <p:cNvSpPr/>
          <p:nvPr/>
        </p:nvSpPr>
        <p:spPr>
          <a:xfrm>
            <a:off x="4343400" y="1691640"/>
            <a:ext cx="3520440" cy="1920240"/>
          </a:xfrm>
          <a:prstGeom prst="rect">
            <a:avLst/>
          </a:prstGeom>
          <a:solidFill>
            <a:srgbClr val="F1F4F4"/>
          </a:solidFill>
          <a:ln w="12700">
            <a:solidFill>
              <a:srgbClr val="F1F4F4"/>
            </a:solidFill>
            <a:prstDash val="solid"/>
          </a:ln>
        </p:spPr>
      </p:sp>
      <p:sp>
        <p:nvSpPr>
          <p:cNvPr id="8" name="Text 6"/>
          <p:cNvSpPr txBox="1"/>
          <p:nvPr/>
        </p:nvSpPr>
        <p:spPr>
          <a:xfrm>
            <a:off x="4663440" y="1965960"/>
            <a:ext cx="2880360" cy="868680"/>
          </a:xfrm>
          <a:prstGeom prst="rect">
            <a:avLst/>
          </a:prstGeom>
          <a:noFill/>
          <a:ln/>
        </p:spPr>
        <p:txBody>
          <a:bodyPr wrap="square" lIns="0" tIns="0" rIns="0" bIns="0" rtlCol="0" anchor="ctr"/>
          <a:lstStyle/>
          <a:p>
            <a:pPr indent="0" marL="0">
              <a:buNone/>
            </a:pPr>
            <a:r>
              <a:rPr lang="en-US" sz="4800" b="1" dirty="0">
                <a:solidFill>
                  <a:srgbClr val="13232B"/>
                </a:solidFill>
                <a:latin typeface="Cambria" pitchFamily="34" charset="0"/>
                <a:ea typeface="Cambria" pitchFamily="34" charset="-122"/>
                <a:cs typeface="Cambria" pitchFamily="34" charset="-120"/>
              </a:rPr>
              <a:t>47,514</a:t>
            </a:r>
            <a:endParaRPr lang="en-US" sz="4800" dirty="0"/>
          </a:p>
        </p:txBody>
      </p:sp>
      <p:sp>
        <p:nvSpPr>
          <p:cNvPr id="9" name="Text 7"/>
          <p:cNvSpPr txBox="1"/>
          <p:nvPr/>
        </p:nvSpPr>
        <p:spPr>
          <a:xfrm>
            <a:off x="4663440" y="2880360"/>
            <a:ext cx="2880360" cy="5486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unique facts after de-duplication</a:t>
            </a:r>
            <a:endParaRPr lang="en-US" sz="1400" dirty="0"/>
          </a:p>
        </p:txBody>
      </p:sp>
      <p:sp>
        <p:nvSpPr>
          <p:cNvPr id="10" name="Shape 8"/>
          <p:cNvSpPr/>
          <p:nvPr/>
        </p:nvSpPr>
        <p:spPr>
          <a:xfrm>
            <a:off x="8138160" y="1691640"/>
            <a:ext cx="3520440" cy="1920240"/>
          </a:xfrm>
          <a:prstGeom prst="rect">
            <a:avLst/>
          </a:prstGeom>
          <a:solidFill>
            <a:srgbClr val="F1F4F4"/>
          </a:solidFill>
          <a:ln w="12700">
            <a:solidFill>
              <a:srgbClr val="F1F4F4"/>
            </a:solidFill>
            <a:prstDash val="solid"/>
          </a:ln>
        </p:spPr>
      </p:sp>
      <p:sp>
        <p:nvSpPr>
          <p:cNvPr id="11" name="Text 9"/>
          <p:cNvSpPr txBox="1"/>
          <p:nvPr/>
        </p:nvSpPr>
        <p:spPr>
          <a:xfrm>
            <a:off x="8458200" y="1965960"/>
            <a:ext cx="2880360" cy="868680"/>
          </a:xfrm>
          <a:prstGeom prst="rect">
            <a:avLst/>
          </a:prstGeom>
          <a:noFill/>
          <a:ln/>
        </p:spPr>
        <p:txBody>
          <a:bodyPr wrap="square" lIns="0" tIns="0" rIns="0" bIns="0" rtlCol="0" anchor="ctr"/>
          <a:lstStyle/>
          <a:p>
            <a:pPr indent="0" marL="0">
              <a:buNone/>
            </a:pPr>
            <a:r>
              <a:rPr lang="en-US" sz="4800" b="1" dirty="0">
                <a:solidFill>
                  <a:srgbClr val="13232B"/>
                </a:solidFill>
                <a:latin typeface="Cambria" pitchFamily="34" charset="0"/>
                <a:ea typeface="Cambria" pitchFamily="34" charset="-122"/>
                <a:cs typeface="Cambria" pitchFamily="34" charset="-120"/>
              </a:rPr>
              <a:t>1,334</a:t>
            </a:r>
            <a:endParaRPr lang="en-US" sz="4800" dirty="0"/>
          </a:p>
        </p:txBody>
      </p:sp>
      <p:sp>
        <p:nvSpPr>
          <p:cNvPr id="12" name="Text 10"/>
          <p:cNvSpPr txBox="1"/>
          <p:nvPr/>
        </p:nvSpPr>
        <p:spPr>
          <a:xfrm>
            <a:off x="8458200" y="2880360"/>
            <a:ext cx="2880360" cy="5486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company-quarters in the final dataset</a:t>
            </a:r>
            <a:endParaRPr lang="en-US" sz="1400" dirty="0"/>
          </a:p>
        </p:txBody>
      </p:sp>
      <p:sp>
        <p:nvSpPr>
          <p:cNvPr id="13" name="Shape 11"/>
          <p:cNvSpPr/>
          <p:nvPr/>
        </p:nvSpPr>
        <p:spPr>
          <a:xfrm>
            <a:off x="548640" y="3886200"/>
            <a:ext cx="3520440" cy="1920240"/>
          </a:xfrm>
          <a:prstGeom prst="rect">
            <a:avLst/>
          </a:prstGeom>
          <a:solidFill>
            <a:srgbClr val="F1F4F4"/>
          </a:solidFill>
          <a:ln w="12700">
            <a:solidFill>
              <a:srgbClr val="F1F4F4"/>
            </a:solidFill>
            <a:prstDash val="solid"/>
          </a:ln>
        </p:spPr>
      </p:sp>
      <p:sp>
        <p:nvSpPr>
          <p:cNvPr id="14" name="Text 12"/>
          <p:cNvSpPr txBox="1"/>
          <p:nvPr/>
        </p:nvSpPr>
        <p:spPr>
          <a:xfrm>
            <a:off x="868680" y="4160520"/>
            <a:ext cx="2880360" cy="868680"/>
          </a:xfrm>
          <a:prstGeom prst="rect">
            <a:avLst/>
          </a:prstGeom>
          <a:noFill/>
          <a:ln/>
        </p:spPr>
        <p:txBody>
          <a:bodyPr wrap="square" lIns="0" tIns="0" rIns="0" bIns="0" rtlCol="0" anchor="ctr"/>
          <a:lstStyle/>
          <a:p>
            <a:pPr indent="0" marL="0">
              <a:buNone/>
            </a:pPr>
            <a:r>
              <a:rPr lang="en-US" sz="4800" b="1" dirty="0">
                <a:solidFill>
                  <a:srgbClr val="13232B"/>
                </a:solidFill>
                <a:latin typeface="Cambria" pitchFamily="34" charset="0"/>
                <a:ea typeface="Cambria" pitchFamily="34" charset="-122"/>
                <a:cs typeface="Cambria" pitchFamily="34" charset="-120"/>
              </a:rPr>
              <a:t>94</a:t>
            </a:r>
            <a:endParaRPr lang="en-US" sz="4800" dirty="0"/>
          </a:p>
        </p:txBody>
      </p:sp>
      <p:sp>
        <p:nvSpPr>
          <p:cNvPr id="15" name="Text 13"/>
          <p:cNvSpPr txBox="1"/>
          <p:nvPr/>
        </p:nvSpPr>
        <p:spPr>
          <a:xfrm>
            <a:off x="868680" y="5074920"/>
            <a:ext cx="2880360" cy="5486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columns per quarter: raw items, ratios, Z-scores, flags</a:t>
            </a:r>
            <a:endParaRPr lang="en-US" sz="1400" dirty="0"/>
          </a:p>
        </p:txBody>
      </p:sp>
      <p:sp>
        <p:nvSpPr>
          <p:cNvPr id="16" name="Shape 14"/>
          <p:cNvSpPr/>
          <p:nvPr/>
        </p:nvSpPr>
        <p:spPr>
          <a:xfrm>
            <a:off x="4343400" y="3886200"/>
            <a:ext cx="3520440" cy="1920240"/>
          </a:xfrm>
          <a:prstGeom prst="rect">
            <a:avLst/>
          </a:prstGeom>
          <a:solidFill>
            <a:srgbClr val="13232B"/>
          </a:solidFill>
          <a:ln w="12700">
            <a:solidFill>
              <a:srgbClr val="13232B"/>
            </a:solidFill>
            <a:prstDash val="solid"/>
          </a:ln>
        </p:spPr>
      </p:sp>
      <p:sp>
        <p:nvSpPr>
          <p:cNvPr id="17" name="Text 15"/>
          <p:cNvSpPr txBox="1"/>
          <p:nvPr/>
        </p:nvSpPr>
        <p:spPr>
          <a:xfrm>
            <a:off x="4663440" y="4160520"/>
            <a:ext cx="2880360" cy="868680"/>
          </a:xfrm>
          <a:prstGeom prst="rect">
            <a:avLst/>
          </a:prstGeom>
          <a:noFill/>
          <a:ln/>
        </p:spPr>
        <p:txBody>
          <a:bodyPr wrap="square" lIns="0" tIns="0" rIns="0" bIns="0" rtlCol="0" anchor="ctr"/>
          <a:lstStyle/>
          <a:p>
            <a:pPr indent="0" marL="0">
              <a:buNone/>
            </a:pPr>
            <a:r>
              <a:rPr lang="en-US" sz="4800" b="1" dirty="0">
                <a:solidFill>
                  <a:srgbClr val="E3A03A"/>
                </a:solidFill>
                <a:latin typeface="Cambria" pitchFamily="34" charset="0"/>
                <a:ea typeface="Cambria" pitchFamily="34" charset="-122"/>
                <a:cs typeface="Cambria" pitchFamily="34" charset="-120"/>
              </a:rPr>
              <a:t>1,993</a:t>
            </a:r>
            <a:endParaRPr lang="en-US" sz="4800" dirty="0"/>
          </a:p>
        </p:txBody>
      </p:sp>
      <p:sp>
        <p:nvSpPr>
          <p:cNvPr id="18" name="Text 16"/>
          <p:cNvSpPr txBox="1"/>
          <p:nvPr/>
        </p:nvSpPr>
        <p:spPr>
          <a:xfrm>
            <a:off x="4663440" y="5074920"/>
            <a:ext cx="2880360" cy="548640"/>
          </a:xfrm>
          <a:prstGeom prst="rect">
            <a:avLst/>
          </a:prstGeom>
          <a:noFill/>
          <a:ln/>
        </p:spPr>
        <p:txBody>
          <a:bodyPr wrap="square" lIns="0" tIns="0" rIns="0" bIns="0" rtlCol="0" anchor="t"/>
          <a:lstStyle/>
          <a:p>
            <a:pPr indent="0" marL="0">
              <a:buNone/>
            </a:pPr>
            <a:r>
              <a:rPr lang="en-US" sz="1400" dirty="0">
                <a:solidFill>
                  <a:srgbClr val="C9D3D6"/>
                </a:solidFill>
                <a:latin typeface="Calibri" pitchFamily="34" charset="0"/>
                <a:ea typeface="Calibri" pitchFamily="34" charset="-122"/>
                <a:cs typeface="Calibri" pitchFamily="34" charset="-120"/>
              </a:rPr>
              <a:t>facts whose value changed after first filing</a:t>
            </a:r>
            <a:endParaRPr lang="en-US" sz="1400" dirty="0"/>
          </a:p>
        </p:txBody>
      </p:sp>
      <p:sp>
        <p:nvSpPr>
          <p:cNvPr id="19" name="Shape 17"/>
          <p:cNvSpPr/>
          <p:nvPr/>
        </p:nvSpPr>
        <p:spPr>
          <a:xfrm>
            <a:off x="8138160" y="3886200"/>
            <a:ext cx="3520440" cy="1920240"/>
          </a:xfrm>
          <a:prstGeom prst="rect">
            <a:avLst/>
          </a:prstGeom>
          <a:solidFill>
            <a:srgbClr val="F1F4F4"/>
          </a:solidFill>
          <a:ln w="12700">
            <a:solidFill>
              <a:srgbClr val="F1F4F4"/>
            </a:solidFill>
            <a:prstDash val="solid"/>
          </a:ln>
        </p:spPr>
      </p:sp>
      <p:sp>
        <p:nvSpPr>
          <p:cNvPr id="20" name="Text 18"/>
          <p:cNvSpPr txBox="1"/>
          <p:nvPr/>
        </p:nvSpPr>
        <p:spPr>
          <a:xfrm>
            <a:off x="8458200" y="4160520"/>
            <a:ext cx="2880360" cy="868680"/>
          </a:xfrm>
          <a:prstGeom prst="rect">
            <a:avLst/>
          </a:prstGeom>
          <a:noFill/>
          <a:ln/>
        </p:spPr>
        <p:txBody>
          <a:bodyPr wrap="square" lIns="0" tIns="0" rIns="0" bIns="0" rtlCol="0" anchor="ctr"/>
          <a:lstStyle/>
          <a:p>
            <a:pPr indent="0" marL="0">
              <a:buNone/>
            </a:pPr>
            <a:r>
              <a:rPr lang="en-US" sz="4800" b="1" dirty="0">
                <a:solidFill>
                  <a:srgbClr val="13232B"/>
                </a:solidFill>
                <a:latin typeface="Cambria" pitchFamily="34" charset="0"/>
                <a:ea typeface="Cambria" pitchFamily="34" charset="-122"/>
                <a:cs typeface="Cambria" pitchFamily="34" charset="-120"/>
              </a:rPr>
              <a:t>93.4%</a:t>
            </a:r>
            <a:endParaRPr lang="en-US" sz="4800" dirty="0"/>
          </a:p>
        </p:txBody>
      </p:sp>
      <p:sp>
        <p:nvSpPr>
          <p:cNvPr id="21" name="Text 19"/>
          <p:cNvSpPr txBox="1"/>
          <p:nvPr/>
        </p:nvSpPr>
        <p:spPr>
          <a:xfrm>
            <a:off x="8458200" y="5074920"/>
            <a:ext cx="2880360" cy="5486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of company-years where quarters reconcile to the annual total</a:t>
            </a:r>
            <a:endParaRPr lang="en-US" sz="1400" dirty="0"/>
          </a:p>
        </p:txBody>
      </p:sp>
      <p:sp>
        <p:nvSpPr>
          <p:cNvPr id="22" name="Text 20"/>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23" name="Text 21"/>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DATA SOURCE &amp; UNIVERSE</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Free SEC APIs, two comparison groups</a:t>
            </a:r>
            <a:endParaRPr lang="en-US" sz="3200" dirty="0"/>
          </a:p>
        </p:txBody>
      </p:sp>
      <p:sp>
        <p:nvSpPr>
          <p:cNvPr id="4" name="Shape 2"/>
          <p:cNvSpPr/>
          <p:nvPr/>
        </p:nvSpPr>
        <p:spPr>
          <a:xfrm>
            <a:off x="548640" y="1783080"/>
            <a:ext cx="685800" cy="685800"/>
          </a:xfrm>
          <a:prstGeom prst="ellipse">
            <a:avLst/>
          </a:prstGeom>
          <a:solidFill>
            <a:srgbClr val="E3A03A"/>
          </a:solidFill>
          <a:ln w="12700">
            <a:solidFill>
              <a:srgbClr val="E3A03A"/>
            </a:solidFill>
            <a:prstDash val="solid"/>
          </a:ln>
        </p:spPr>
      </p:sp>
      <p:pic>
        <p:nvPicPr>
          <p:cNvPr id="5" name="Image 0" descr="preencoded.png">    </p:cNvPr>
          <p:cNvPicPr>
            <a:picLocks noChangeAspect="1"/>
          </p:cNvPicPr>
          <p:nvPr/>
        </p:nvPicPr>
        <p:blipFill>
          <a:blip r:embed="rId1"/>
          <a:stretch>
            <a:fillRect/>
          </a:stretch>
        </p:blipFill>
        <p:spPr>
          <a:xfrm>
            <a:off x="726948" y="1961388"/>
            <a:ext cx="329184" cy="329184"/>
          </a:xfrm>
          <a:prstGeom prst="rect">
            <a:avLst/>
          </a:prstGeom>
        </p:spPr>
      </p:pic>
      <p:sp>
        <p:nvSpPr>
          <p:cNvPr id="6" name="Text 3"/>
          <p:cNvSpPr txBox="1"/>
          <p:nvPr/>
        </p:nvSpPr>
        <p:spPr>
          <a:xfrm>
            <a:off x="1463040" y="1764792"/>
            <a:ext cx="4297680" cy="365760"/>
          </a:xfrm>
          <a:prstGeom prst="rect">
            <a:avLst/>
          </a:prstGeom>
          <a:noFill/>
          <a:ln/>
        </p:spPr>
        <p:txBody>
          <a:bodyPr wrap="square" lIns="0" tIns="0" rIns="0" bIns="0" rtlCol="0" anchor="ctr"/>
          <a:lstStyle/>
          <a:p>
            <a:pPr indent="0" marL="0">
              <a:buNone/>
            </a:pPr>
            <a:r>
              <a:rPr lang="en-US" sz="1700" b="1" dirty="0">
                <a:solidFill>
                  <a:srgbClr val="13232B"/>
                </a:solidFill>
                <a:latin typeface="Courier New" pitchFamily="34" charset="0"/>
                <a:ea typeface="Courier New" pitchFamily="34" charset="-122"/>
                <a:cs typeface="Courier New" pitchFamily="34" charset="-120"/>
              </a:rPr>
              <a:t>company_tickers.json</a:t>
            </a:r>
            <a:endParaRPr lang="en-US" sz="1700" dirty="0"/>
          </a:p>
        </p:txBody>
      </p:sp>
      <p:sp>
        <p:nvSpPr>
          <p:cNvPr id="7" name="Text 4"/>
          <p:cNvSpPr txBox="1"/>
          <p:nvPr/>
        </p:nvSpPr>
        <p:spPr>
          <a:xfrm>
            <a:off x="1463040" y="2148840"/>
            <a:ext cx="4297680" cy="5486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Ticker → CIK mapping</a:t>
            </a:r>
            <a:endParaRPr lang="en-US" sz="1400" dirty="0"/>
          </a:p>
        </p:txBody>
      </p:sp>
      <p:sp>
        <p:nvSpPr>
          <p:cNvPr id="8" name="Shape 5"/>
          <p:cNvSpPr/>
          <p:nvPr/>
        </p:nvSpPr>
        <p:spPr>
          <a:xfrm>
            <a:off x="548640" y="2971800"/>
            <a:ext cx="685800" cy="685800"/>
          </a:xfrm>
          <a:prstGeom prst="ellipse">
            <a:avLst/>
          </a:prstGeom>
          <a:solidFill>
            <a:srgbClr val="E3A03A"/>
          </a:solidFill>
          <a:ln w="12700">
            <a:solidFill>
              <a:srgbClr val="E3A03A"/>
            </a:solidFill>
            <a:prstDash val="solid"/>
          </a:ln>
        </p:spPr>
      </p:sp>
      <p:pic>
        <p:nvPicPr>
          <p:cNvPr id="9" name="Image 1" descr="preencoded.png">    </p:cNvPr>
          <p:cNvPicPr>
            <a:picLocks noChangeAspect="1"/>
          </p:cNvPicPr>
          <p:nvPr/>
        </p:nvPicPr>
        <p:blipFill>
          <a:blip r:embed="rId2"/>
          <a:stretch>
            <a:fillRect/>
          </a:stretch>
        </p:blipFill>
        <p:spPr>
          <a:xfrm>
            <a:off x="726948" y="3150108"/>
            <a:ext cx="329184" cy="329184"/>
          </a:xfrm>
          <a:prstGeom prst="rect">
            <a:avLst/>
          </a:prstGeom>
        </p:spPr>
      </p:pic>
      <p:sp>
        <p:nvSpPr>
          <p:cNvPr id="10" name="Text 6"/>
          <p:cNvSpPr txBox="1"/>
          <p:nvPr/>
        </p:nvSpPr>
        <p:spPr>
          <a:xfrm>
            <a:off x="1463040" y="2953512"/>
            <a:ext cx="4297680" cy="365760"/>
          </a:xfrm>
          <a:prstGeom prst="rect">
            <a:avLst/>
          </a:prstGeom>
          <a:noFill/>
          <a:ln/>
        </p:spPr>
        <p:txBody>
          <a:bodyPr wrap="square" lIns="0" tIns="0" rIns="0" bIns="0" rtlCol="0" anchor="ctr"/>
          <a:lstStyle/>
          <a:p>
            <a:pPr indent="0" marL="0">
              <a:buNone/>
            </a:pPr>
            <a:r>
              <a:rPr lang="en-US" sz="1700" b="1" dirty="0">
                <a:solidFill>
                  <a:srgbClr val="13232B"/>
                </a:solidFill>
                <a:latin typeface="Courier New" pitchFamily="34" charset="0"/>
                <a:ea typeface="Courier New" pitchFamily="34" charset="-122"/>
                <a:cs typeface="Courier New" pitchFamily="34" charset="-120"/>
              </a:rPr>
              <a:t>/submissions</a:t>
            </a:r>
            <a:endParaRPr lang="en-US" sz="1700" dirty="0"/>
          </a:p>
        </p:txBody>
      </p:sp>
      <p:sp>
        <p:nvSpPr>
          <p:cNvPr id="11" name="Text 7"/>
          <p:cNvSpPr txBox="1"/>
          <p:nvPr/>
        </p:nvSpPr>
        <p:spPr>
          <a:xfrm>
            <a:off x="1463040" y="3337560"/>
            <a:ext cx="4297680" cy="5486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Name, SIC industry, fiscal-year-end</a:t>
            </a:r>
            <a:endParaRPr lang="en-US" sz="1400" dirty="0"/>
          </a:p>
        </p:txBody>
      </p:sp>
      <p:sp>
        <p:nvSpPr>
          <p:cNvPr id="12" name="Shape 8"/>
          <p:cNvSpPr/>
          <p:nvPr/>
        </p:nvSpPr>
        <p:spPr>
          <a:xfrm>
            <a:off x="548640" y="4160520"/>
            <a:ext cx="685800" cy="685800"/>
          </a:xfrm>
          <a:prstGeom prst="ellipse">
            <a:avLst/>
          </a:prstGeom>
          <a:solidFill>
            <a:srgbClr val="E3A03A"/>
          </a:solidFill>
          <a:ln w="12700">
            <a:solidFill>
              <a:srgbClr val="E3A03A"/>
            </a:solidFill>
            <a:prstDash val="solid"/>
          </a:ln>
        </p:spPr>
      </p:sp>
      <p:pic>
        <p:nvPicPr>
          <p:cNvPr id="13" name="Image 2" descr="preencoded.png">    </p:cNvPr>
          <p:cNvPicPr>
            <a:picLocks noChangeAspect="1"/>
          </p:cNvPicPr>
          <p:nvPr/>
        </p:nvPicPr>
        <p:blipFill>
          <a:blip r:embed="rId3"/>
          <a:stretch>
            <a:fillRect/>
          </a:stretch>
        </p:blipFill>
        <p:spPr>
          <a:xfrm>
            <a:off x="726948" y="4338828"/>
            <a:ext cx="329184" cy="329184"/>
          </a:xfrm>
          <a:prstGeom prst="rect">
            <a:avLst/>
          </a:prstGeom>
        </p:spPr>
      </p:pic>
      <p:sp>
        <p:nvSpPr>
          <p:cNvPr id="14" name="Text 9"/>
          <p:cNvSpPr txBox="1"/>
          <p:nvPr/>
        </p:nvSpPr>
        <p:spPr>
          <a:xfrm>
            <a:off x="1463040" y="4142232"/>
            <a:ext cx="4297680" cy="365760"/>
          </a:xfrm>
          <a:prstGeom prst="rect">
            <a:avLst/>
          </a:prstGeom>
          <a:noFill/>
          <a:ln/>
        </p:spPr>
        <p:txBody>
          <a:bodyPr wrap="square" lIns="0" tIns="0" rIns="0" bIns="0" rtlCol="0" anchor="ctr"/>
          <a:lstStyle/>
          <a:p>
            <a:pPr indent="0" marL="0">
              <a:buNone/>
            </a:pPr>
            <a:r>
              <a:rPr lang="en-US" sz="1700" b="1" dirty="0">
                <a:solidFill>
                  <a:srgbClr val="13232B"/>
                </a:solidFill>
                <a:latin typeface="Courier New" pitchFamily="34" charset="0"/>
                <a:ea typeface="Courier New" pitchFamily="34" charset="-122"/>
                <a:cs typeface="Courier New" pitchFamily="34" charset="-120"/>
              </a:rPr>
              <a:t>/api/xbrl/companyfacts</a:t>
            </a:r>
            <a:endParaRPr lang="en-US" sz="1700" dirty="0"/>
          </a:p>
        </p:txBody>
      </p:sp>
      <p:sp>
        <p:nvSpPr>
          <p:cNvPr id="15" name="Text 10"/>
          <p:cNvSpPr txBox="1"/>
          <p:nvPr/>
        </p:nvSpPr>
        <p:spPr>
          <a:xfrm>
            <a:off x="1463040" y="4526280"/>
            <a:ext cx="4297680" cy="5486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Every XBRL fact, with period, filing date, form and accession no.</a:t>
            </a:r>
            <a:endParaRPr lang="en-US" sz="1400" dirty="0"/>
          </a:p>
        </p:txBody>
      </p:sp>
      <p:sp>
        <p:nvSpPr>
          <p:cNvPr id="16" name="Text 11"/>
          <p:cNvSpPr txBox="1"/>
          <p:nvPr/>
        </p:nvSpPr>
        <p:spPr>
          <a:xfrm>
            <a:off x="548640" y="5440680"/>
            <a:ext cx="5120640" cy="548640"/>
          </a:xfrm>
          <a:prstGeom prst="rect">
            <a:avLst/>
          </a:prstGeom>
          <a:noFill/>
          <a:ln/>
        </p:spPr>
        <p:txBody>
          <a:bodyPr wrap="square" lIns="0" tIns="0" rIns="0" bIns="0" rtlCol="0" anchor="ctr"/>
          <a:lstStyle/>
          <a:p>
            <a:pPr indent="0" marL="0">
              <a:buNone/>
            </a:pPr>
            <a:r>
              <a:rPr lang="en-US" sz="1300" i="1" dirty="0">
                <a:solidFill>
                  <a:srgbClr val="2E6F6A"/>
                </a:solidFill>
                <a:latin typeface="Calibri" pitchFamily="34" charset="0"/>
                <a:ea typeface="Calibri" pitchFamily="34" charset="-122"/>
                <a:cs typeface="Calibri" pitchFamily="34" charset="-120"/>
              </a:rPr>
              <a:t>Rate-limited to ~8 requests/s (SEC limit: 10) and cached locally, so re-runs are offline.</a:t>
            </a:r>
            <a:endParaRPr lang="en-US" sz="1300" dirty="0"/>
          </a:p>
        </p:txBody>
      </p:sp>
      <p:sp>
        <p:nvSpPr>
          <p:cNvPr id="17" name="Text 12"/>
          <p:cNvSpPr txBox="1"/>
          <p:nvPr/>
        </p:nvSpPr>
        <p:spPr>
          <a:xfrm>
            <a:off x="6172200" y="1737360"/>
            <a:ext cx="5470855" cy="320040"/>
          </a:xfrm>
          <a:prstGeom prst="rect">
            <a:avLst/>
          </a:prstGeom>
          <a:noFill/>
          <a:ln/>
        </p:spPr>
        <p:txBody>
          <a:bodyPr wrap="square" lIns="0" tIns="0" rIns="0" bIns="0" rtlCol="0" anchor="ctr"/>
          <a:lstStyle/>
          <a:p>
            <a:pPr indent="0" marL="0">
              <a:buNone/>
            </a:pPr>
            <a:r>
              <a:rPr lang="en-US" sz="1600" b="1" dirty="0">
                <a:solidFill>
                  <a:srgbClr val="13232B"/>
                </a:solidFill>
                <a:latin typeface="Calibri" pitchFamily="34" charset="0"/>
                <a:ea typeface="Calibri" pitchFamily="34" charset="-122"/>
                <a:cs typeface="Calibri" pitchFamily="34" charset="-120"/>
              </a:rPr>
              <a:t>20 control companies</a:t>
            </a:r>
            <a:endParaRPr lang="en-US" sz="1600" dirty="0"/>
          </a:p>
        </p:txBody>
      </p:sp>
      <p:sp>
        <p:nvSpPr>
          <p:cNvPr id="18" name="Text 13"/>
          <p:cNvSpPr txBox="1"/>
          <p:nvPr/>
        </p:nvSpPr>
        <p:spPr>
          <a:xfrm>
            <a:off x="6172200" y="2057400"/>
            <a:ext cx="5470855" cy="548640"/>
          </a:xfrm>
          <a:prstGeom prst="rect">
            <a:avLst/>
          </a:prstGeom>
          <a:noFill/>
          <a:ln/>
        </p:spPr>
        <p:txBody>
          <a:bodyPr wrap="square" lIns="0" tIns="0" rIns="0" bIns="0" rtlCol="0" anchor="ctr"/>
          <a:lstStyle/>
          <a:p>
            <a:pPr indent="0" marL="0">
              <a:buNone/>
            </a:pPr>
            <a:r>
              <a:rPr lang="en-US" sz="1300" dirty="0">
                <a:solidFill>
                  <a:srgbClr val="5E6E75"/>
                </a:solidFill>
                <a:latin typeface="Calibri" pitchFamily="34" charset="0"/>
                <a:ea typeface="Calibri" pitchFamily="34" charset="-122"/>
                <a:cs typeface="Calibri" pitchFamily="34" charset="-120"/>
              </a:rPr>
              <a:t>AAPL, MSFT, WMT, KO, PG, JNJ, PEP, COST, HD, INTC, CSCO, ORCL, NKE, MCD, CAT, MMM, HON, TGT, LOW, ADBE</a:t>
            </a:r>
            <a:endParaRPr lang="en-US" sz="1300" dirty="0"/>
          </a:p>
        </p:txBody>
      </p:sp>
      <p:sp>
        <p:nvSpPr>
          <p:cNvPr id="19" name="Text 14"/>
          <p:cNvSpPr txBox="1"/>
          <p:nvPr/>
        </p:nvSpPr>
        <p:spPr>
          <a:xfrm>
            <a:off x="6172200" y="2788920"/>
            <a:ext cx="5470855" cy="320040"/>
          </a:xfrm>
          <a:prstGeom prst="rect">
            <a:avLst/>
          </a:prstGeom>
          <a:noFill/>
          <a:ln/>
        </p:spPr>
        <p:txBody>
          <a:bodyPr wrap="square" lIns="0" tIns="0" rIns="0" bIns="0" rtlCol="0" anchor="ctr"/>
          <a:lstStyle/>
          <a:p>
            <a:pPr indent="0" marL="0">
              <a:buNone/>
            </a:pPr>
            <a:r>
              <a:rPr lang="en-US" sz="1600" b="1" dirty="0">
                <a:solidFill>
                  <a:srgbClr val="13232B"/>
                </a:solidFill>
                <a:latin typeface="Calibri" pitchFamily="34" charset="0"/>
                <a:ea typeface="Calibri" pitchFamily="34" charset="-122"/>
                <a:cs typeface="Calibri" pitchFamily="34" charset="-120"/>
              </a:rPr>
              <a:t>6 reference companies (publicly reported accounting issues)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172200" y="3200400"/>
          <a:ext cx="5470855" cy="914400"/>
        </p:xfrm>
        <a:graphic>
          <a:graphicData uri="http://schemas.openxmlformats.org/drawingml/2006/table">
            <a:tbl>
              <a:tblPr/>
              <a:tblGrid>
                <a:gridCol w="822960"/>
                <a:gridCol w="4647895"/>
              </a:tblGrid>
              <a:tr h="384048">
                <a:tc>
                  <a:txBody>
                    <a:bodyPr/>
                    <a:lstStyle/>
                    <a:p>
                      <a:pPr indent="0" marL="0">
                        <a:buNone/>
                      </a:pPr>
                      <a:r>
                        <a:rPr lang="en-US" sz="1300" b="1" dirty="0">
                          <a:solidFill>
                            <a:srgbClr val="13232B"/>
                          </a:solidFill>
                          <a:latin typeface="Calibri" pitchFamily="34" charset="0"/>
                          <a:ea typeface="Calibri" pitchFamily="34" charset="-122"/>
                          <a:cs typeface="Calibri" pitchFamily="34" charset="-120"/>
                        </a:rPr>
                        <a:t>KHC</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Restated 2016–18 results (2019); SEC settlement 2021</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r>
              <a:tr h="384048">
                <a:tc>
                  <a:txBody>
                    <a:bodyPr/>
                    <a:lstStyle/>
                    <a:p>
                      <a:pPr indent="0" marL="0">
                        <a:buNone/>
                      </a:pPr>
                      <a:r>
                        <a:rPr lang="en-US" sz="1300" b="1" dirty="0">
                          <a:solidFill>
                            <a:srgbClr val="13232B"/>
                          </a:solidFill>
                          <a:latin typeface="Calibri" pitchFamily="34" charset="0"/>
                          <a:ea typeface="Calibri" pitchFamily="34" charset="-122"/>
                          <a:cs typeface="Calibri" pitchFamily="34" charset="-120"/>
                        </a:rPr>
                        <a:t>UAA</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SEC settlement 2021: undisclosed sales pull-forward</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b="1" dirty="0">
                          <a:solidFill>
                            <a:srgbClr val="13232B"/>
                          </a:solidFill>
                          <a:latin typeface="Calibri" pitchFamily="34" charset="0"/>
                          <a:ea typeface="Calibri" pitchFamily="34" charset="-122"/>
                          <a:cs typeface="Calibri" pitchFamily="34" charset="-120"/>
                        </a:rPr>
                        <a:t>SMCI</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SEC settlement 2020: improper revenue recognition</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r>
              <a:tr h="384048">
                <a:tc>
                  <a:txBody>
                    <a:bodyPr/>
                    <a:lstStyle/>
                    <a:p>
                      <a:pPr indent="0" marL="0">
                        <a:buNone/>
                      </a:pPr>
                      <a:r>
                        <a:rPr lang="en-US" sz="1300" b="1" dirty="0">
                          <a:solidFill>
                            <a:srgbClr val="13232B"/>
                          </a:solidFill>
                          <a:latin typeface="Calibri" pitchFamily="34" charset="0"/>
                          <a:ea typeface="Calibri" pitchFamily="34" charset="-122"/>
                          <a:cs typeface="Calibri" pitchFamily="34" charset="-120"/>
                        </a:rPr>
                        <a:t>MDXG</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Restated 2012–16 results (filed 2020)</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b="1" dirty="0">
                          <a:solidFill>
                            <a:srgbClr val="13232B"/>
                          </a:solidFill>
                          <a:latin typeface="Calibri" pitchFamily="34" charset="0"/>
                          <a:ea typeface="Calibri" pitchFamily="34" charset="-122"/>
                          <a:cs typeface="Calibri" pitchFamily="34" charset="-120"/>
                        </a:rPr>
                        <a:t>PLUG</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Restated 2018–20 financial statements (2021)</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r>
              <a:tr h="384048">
                <a:tc>
                  <a:txBody>
                    <a:bodyPr/>
                    <a:lstStyle/>
                    <a:p>
                      <a:pPr indent="0" marL="0">
                        <a:buNone/>
                      </a:pPr>
                      <a:r>
                        <a:rPr lang="en-US" sz="1300" b="1" dirty="0">
                          <a:solidFill>
                            <a:srgbClr val="13232B"/>
                          </a:solidFill>
                          <a:latin typeface="Calibri" pitchFamily="34" charset="0"/>
                          <a:ea typeface="Calibri" pitchFamily="34" charset="-122"/>
                          <a:cs typeface="Calibri" pitchFamily="34" charset="-120"/>
                        </a:rPr>
                        <a:t>MAT</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Restated 2017–18 interim results (2019)</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1" name="Text 15"/>
          <p:cNvSpPr txBox="1"/>
          <p:nvPr/>
        </p:nvSpPr>
        <p:spPr>
          <a:xfrm>
            <a:off x="6172200" y="5623560"/>
            <a:ext cx="5470855" cy="411480"/>
          </a:xfrm>
          <a:prstGeom prst="rect">
            <a:avLst/>
          </a:prstGeom>
          <a:noFill/>
          <a:ln/>
        </p:spPr>
        <p:txBody>
          <a:bodyPr wrap="square" lIns="0" tIns="0" rIns="0" bIns="0" rtlCol="0" anchor="ctr"/>
          <a:lstStyle/>
          <a:p>
            <a:pPr indent="0" marL="0">
              <a:buNone/>
            </a:pPr>
            <a:r>
              <a:rPr lang="en-US" sz="1200" i="1" dirty="0">
                <a:solidFill>
                  <a:srgbClr val="5E6E75"/>
                </a:solidFill>
                <a:latin typeface="Calibri" pitchFamily="34" charset="0"/>
                <a:ea typeface="Calibri" pitchFamily="34" charset="-122"/>
                <a:cs typeface="Calibri" pitchFamily="34" charset="-120"/>
              </a:rPr>
              <a:t>Weak labels for sanity-checking models; verify against SEC AAERs before use as ground truth.</a:t>
            </a:r>
            <a:endParaRPr lang="en-US" sz="1200" dirty="0"/>
          </a:p>
        </p:txBody>
      </p:sp>
      <p:sp>
        <p:nvSpPr>
          <p:cNvPr id="22" name="Text 16"/>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23" name="Text 17"/>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PIPELINE</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From raw filings to features in seven steps</a:t>
            </a:r>
            <a:endParaRPr lang="en-US" sz="3200" dirty="0"/>
          </a:p>
        </p:txBody>
      </p:sp>
      <p:sp>
        <p:nvSpPr>
          <p:cNvPr id="4" name="Shape 2"/>
          <p:cNvSpPr/>
          <p:nvPr/>
        </p:nvSpPr>
        <p:spPr>
          <a:xfrm>
            <a:off x="548640" y="2148840"/>
            <a:ext cx="1417320" cy="2651760"/>
          </a:xfrm>
          <a:prstGeom prst="rect">
            <a:avLst/>
          </a:prstGeom>
          <a:solidFill>
            <a:srgbClr val="F1F4F4"/>
          </a:solidFill>
          <a:ln w="12700">
            <a:solidFill>
              <a:srgbClr val="F1F4F4"/>
            </a:solidFill>
            <a:prstDash val="solid"/>
          </a:ln>
        </p:spPr>
      </p:sp>
      <p:sp>
        <p:nvSpPr>
          <p:cNvPr id="5" name="Text 3"/>
          <p:cNvSpPr txBox="1"/>
          <p:nvPr/>
        </p:nvSpPr>
        <p:spPr>
          <a:xfrm>
            <a:off x="731520" y="2377440"/>
            <a:ext cx="1051560" cy="548640"/>
          </a:xfrm>
          <a:prstGeom prst="rect">
            <a:avLst/>
          </a:prstGeom>
          <a:noFill/>
          <a:ln/>
        </p:spPr>
        <p:txBody>
          <a:bodyPr wrap="square" lIns="0" tIns="0" rIns="0" bIns="0" rtlCol="0" anchor="ctr"/>
          <a:lstStyle/>
          <a:p>
            <a:pPr indent="0" marL="0">
              <a:buNone/>
            </a:pPr>
            <a:r>
              <a:rPr lang="en-US" sz="3000" b="1" dirty="0">
                <a:solidFill>
                  <a:srgbClr val="E3A03A"/>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731520" y="3017520"/>
            <a:ext cx="1143000" cy="411480"/>
          </a:xfrm>
          <a:prstGeom prst="rect">
            <a:avLst/>
          </a:prstGeom>
          <a:noFill/>
          <a:ln/>
        </p:spPr>
        <p:txBody>
          <a:bodyPr wrap="square" lIns="0" tIns="0" rIns="0" bIns="0" rtlCol="0" anchor="ctr"/>
          <a:lstStyle/>
          <a:p>
            <a:pPr indent="0" marL="0">
              <a:buNone/>
            </a:pPr>
            <a:r>
              <a:rPr lang="en-US" sz="1600" b="1" dirty="0">
                <a:solidFill>
                  <a:srgbClr val="13232B"/>
                </a:solidFill>
                <a:latin typeface="Calibri" pitchFamily="34" charset="0"/>
                <a:ea typeface="Calibri" pitchFamily="34" charset="-122"/>
                <a:cs typeface="Calibri" pitchFamily="34" charset="-120"/>
              </a:rPr>
              <a:t>Resolve</a:t>
            </a:r>
            <a:endParaRPr lang="en-US" sz="1600" dirty="0"/>
          </a:p>
        </p:txBody>
      </p:sp>
      <p:sp>
        <p:nvSpPr>
          <p:cNvPr id="7" name="Text 5"/>
          <p:cNvSpPr txBox="1"/>
          <p:nvPr/>
        </p:nvSpPr>
        <p:spPr>
          <a:xfrm>
            <a:off x="731520" y="3474720"/>
            <a:ext cx="1097280" cy="118872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Tickers → CIK numbers</a:t>
            </a:r>
            <a:endParaRPr lang="en-US" sz="1300" dirty="0"/>
          </a:p>
        </p:txBody>
      </p:sp>
      <p:sp>
        <p:nvSpPr>
          <p:cNvPr id="8" name="Shape 6"/>
          <p:cNvSpPr/>
          <p:nvPr/>
        </p:nvSpPr>
        <p:spPr>
          <a:xfrm>
            <a:off x="2148840" y="2148840"/>
            <a:ext cx="1417320" cy="2651760"/>
          </a:xfrm>
          <a:prstGeom prst="rect">
            <a:avLst/>
          </a:prstGeom>
          <a:solidFill>
            <a:srgbClr val="F1F4F4"/>
          </a:solidFill>
          <a:ln w="12700">
            <a:solidFill>
              <a:srgbClr val="F1F4F4"/>
            </a:solidFill>
            <a:prstDash val="solid"/>
          </a:ln>
        </p:spPr>
      </p:sp>
      <p:sp>
        <p:nvSpPr>
          <p:cNvPr id="9" name="Text 7"/>
          <p:cNvSpPr txBox="1"/>
          <p:nvPr/>
        </p:nvSpPr>
        <p:spPr>
          <a:xfrm>
            <a:off x="2331720" y="2377440"/>
            <a:ext cx="1051560" cy="548640"/>
          </a:xfrm>
          <a:prstGeom prst="rect">
            <a:avLst/>
          </a:prstGeom>
          <a:noFill/>
          <a:ln/>
        </p:spPr>
        <p:txBody>
          <a:bodyPr wrap="square" lIns="0" tIns="0" rIns="0" bIns="0" rtlCol="0" anchor="ctr"/>
          <a:lstStyle/>
          <a:p>
            <a:pPr indent="0" marL="0">
              <a:buNone/>
            </a:pPr>
            <a:r>
              <a:rPr lang="en-US" sz="3000" b="1" dirty="0">
                <a:solidFill>
                  <a:srgbClr val="E3A03A"/>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2331720" y="3017520"/>
            <a:ext cx="1143000" cy="411480"/>
          </a:xfrm>
          <a:prstGeom prst="rect">
            <a:avLst/>
          </a:prstGeom>
          <a:noFill/>
          <a:ln/>
        </p:spPr>
        <p:txBody>
          <a:bodyPr wrap="square" lIns="0" tIns="0" rIns="0" bIns="0" rtlCol="0" anchor="ctr"/>
          <a:lstStyle/>
          <a:p>
            <a:pPr indent="0" marL="0">
              <a:buNone/>
            </a:pPr>
            <a:r>
              <a:rPr lang="en-US" sz="1600" b="1" dirty="0">
                <a:solidFill>
                  <a:srgbClr val="13232B"/>
                </a:solidFill>
                <a:latin typeface="Calibri" pitchFamily="34" charset="0"/>
                <a:ea typeface="Calibri" pitchFamily="34" charset="-122"/>
                <a:cs typeface="Calibri" pitchFamily="34" charset="-120"/>
              </a:rPr>
              <a:t>Download</a:t>
            </a:r>
            <a:endParaRPr lang="en-US" sz="1600" dirty="0"/>
          </a:p>
        </p:txBody>
      </p:sp>
      <p:sp>
        <p:nvSpPr>
          <p:cNvPr id="11" name="Text 9"/>
          <p:cNvSpPr txBox="1"/>
          <p:nvPr/>
        </p:nvSpPr>
        <p:spPr>
          <a:xfrm>
            <a:off x="2331720" y="3474720"/>
            <a:ext cx="1097280" cy="118872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Submissions + all XBRL facts, cached</a:t>
            </a:r>
            <a:endParaRPr lang="en-US" sz="1300" dirty="0"/>
          </a:p>
        </p:txBody>
      </p:sp>
      <p:sp>
        <p:nvSpPr>
          <p:cNvPr id="12" name="Shape 10"/>
          <p:cNvSpPr/>
          <p:nvPr/>
        </p:nvSpPr>
        <p:spPr>
          <a:xfrm>
            <a:off x="3749040" y="2148840"/>
            <a:ext cx="1417320" cy="2651760"/>
          </a:xfrm>
          <a:prstGeom prst="rect">
            <a:avLst/>
          </a:prstGeom>
          <a:solidFill>
            <a:srgbClr val="F1F4F4"/>
          </a:solidFill>
          <a:ln w="12700">
            <a:solidFill>
              <a:srgbClr val="F1F4F4"/>
            </a:solidFill>
            <a:prstDash val="solid"/>
          </a:ln>
        </p:spPr>
      </p:sp>
      <p:sp>
        <p:nvSpPr>
          <p:cNvPr id="13" name="Text 11"/>
          <p:cNvSpPr txBox="1"/>
          <p:nvPr/>
        </p:nvSpPr>
        <p:spPr>
          <a:xfrm>
            <a:off x="3931920" y="2377440"/>
            <a:ext cx="1051560" cy="548640"/>
          </a:xfrm>
          <a:prstGeom prst="rect">
            <a:avLst/>
          </a:prstGeom>
          <a:noFill/>
          <a:ln/>
        </p:spPr>
        <p:txBody>
          <a:bodyPr wrap="square" lIns="0" tIns="0" rIns="0" bIns="0" rtlCol="0" anchor="ctr"/>
          <a:lstStyle/>
          <a:p>
            <a:pPr indent="0" marL="0">
              <a:buNone/>
            </a:pPr>
            <a:r>
              <a:rPr lang="en-US" sz="3000" b="1" dirty="0">
                <a:solidFill>
                  <a:srgbClr val="E3A03A"/>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3931920" y="3017520"/>
            <a:ext cx="1143000" cy="411480"/>
          </a:xfrm>
          <a:prstGeom prst="rect">
            <a:avLst/>
          </a:prstGeom>
          <a:noFill/>
          <a:ln/>
        </p:spPr>
        <p:txBody>
          <a:bodyPr wrap="square" lIns="0" tIns="0" rIns="0" bIns="0" rtlCol="0" anchor="ctr"/>
          <a:lstStyle/>
          <a:p>
            <a:pPr indent="0" marL="0">
              <a:buNone/>
            </a:pPr>
            <a:r>
              <a:rPr lang="en-US" sz="1600" b="1" dirty="0">
                <a:solidFill>
                  <a:srgbClr val="13232B"/>
                </a:solidFill>
                <a:latin typeface="Calibri" pitchFamily="34" charset="0"/>
                <a:ea typeface="Calibri" pitchFamily="34" charset="-122"/>
                <a:cs typeface="Calibri" pitchFamily="34" charset="-120"/>
              </a:rPr>
              <a:t>Standardise</a:t>
            </a:r>
            <a:endParaRPr lang="en-US" sz="1600" dirty="0"/>
          </a:p>
        </p:txBody>
      </p:sp>
      <p:sp>
        <p:nvSpPr>
          <p:cNvPr id="15" name="Text 13"/>
          <p:cNvSpPr txBox="1"/>
          <p:nvPr/>
        </p:nvSpPr>
        <p:spPr>
          <a:xfrm>
            <a:off x="3931920" y="3474720"/>
            <a:ext cx="1097280" cy="118872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23 line items from ranked US-GAAP tags</a:t>
            </a:r>
            <a:endParaRPr lang="en-US" sz="1300" dirty="0"/>
          </a:p>
        </p:txBody>
      </p:sp>
      <p:sp>
        <p:nvSpPr>
          <p:cNvPr id="16" name="Shape 14"/>
          <p:cNvSpPr/>
          <p:nvPr/>
        </p:nvSpPr>
        <p:spPr>
          <a:xfrm>
            <a:off x="5349240" y="2148840"/>
            <a:ext cx="1417320" cy="2651760"/>
          </a:xfrm>
          <a:prstGeom prst="rect">
            <a:avLst/>
          </a:prstGeom>
          <a:solidFill>
            <a:srgbClr val="F1F4F4"/>
          </a:solidFill>
          <a:ln w="12700">
            <a:solidFill>
              <a:srgbClr val="F1F4F4"/>
            </a:solidFill>
            <a:prstDash val="solid"/>
          </a:ln>
        </p:spPr>
      </p:sp>
      <p:sp>
        <p:nvSpPr>
          <p:cNvPr id="17" name="Text 15"/>
          <p:cNvSpPr txBox="1"/>
          <p:nvPr/>
        </p:nvSpPr>
        <p:spPr>
          <a:xfrm>
            <a:off x="5532120" y="2377440"/>
            <a:ext cx="1051560" cy="548640"/>
          </a:xfrm>
          <a:prstGeom prst="rect">
            <a:avLst/>
          </a:prstGeom>
          <a:noFill/>
          <a:ln/>
        </p:spPr>
        <p:txBody>
          <a:bodyPr wrap="square" lIns="0" tIns="0" rIns="0" bIns="0" rtlCol="0" anchor="ctr"/>
          <a:lstStyle/>
          <a:p>
            <a:pPr indent="0" marL="0">
              <a:buNone/>
            </a:pPr>
            <a:r>
              <a:rPr lang="en-US" sz="3000" b="1" dirty="0">
                <a:solidFill>
                  <a:srgbClr val="E3A03A"/>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5532120" y="3017520"/>
            <a:ext cx="1143000" cy="411480"/>
          </a:xfrm>
          <a:prstGeom prst="rect">
            <a:avLst/>
          </a:prstGeom>
          <a:noFill/>
          <a:ln/>
        </p:spPr>
        <p:txBody>
          <a:bodyPr wrap="square" lIns="0" tIns="0" rIns="0" bIns="0" rtlCol="0" anchor="ctr"/>
          <a:lstStyle/>
          <a:p>
            <a:pPr indent="0" marL="0">
              <a:buNone/>
            </a:pPr>
            <a:r>
              <a:rPr lang="en-US" sz="1600" b="1" dirty="0">
                <a:solidFill>
                  <a:srgbClr val="13232B"/>
                </a:solidFill>
                <a:latin typeface="Calibri" pitchFamily="34" charset="0"/>
                <a:ea typeface="Calibri" pitchFamily="34" charset="-122"/>
                <a:cs typeface="Calibri" pitchFamily="34" charset="-120"/>
              </a:rPr>
              <a:t>De-duplicate</a:t>
            </a:r>
            <a:endParaRPr lang="en-US" sz="1600" dirty="0"/>
          </a:p>
        </p:txBody>
      </p:sp>
      <p:sp>
        <p:nvSpPr>
          <p:cNvPr id="19" name="Text 17"/>
          <p:cNvSpPr txBox="1"/>
          <p:nvPr/>
        </p:nvSpPr>
        <p:spPr>
          <a:xfrm>
            <a:off x="5532120" y="3474720"/>
            <a:ext cx="1097280" cy="118872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Keep first-reported value, record restatements</a:t>
            </a:r>
            <a:endParaRPr lang="en-US" sz="1300" dirty="0"/>
          </a:p>
        </p:txBody>
      </p:sp>
      <p:sp>
        <p:nvSpPr>
          <p:cNvPr id="20" name="Shape 18"/>
          <p:cNvSpPr/>
          <p:nvPr/>
        </p:nvSpPr>
        <p:spPr>
          <a:xfrm>
            <a:off x="6949440" y="2148840"/>
            <a:ext cx="1417320" cy="2651760"/>
          </a:xfrm>
          <a:prstGeom prst="rect">
            <a:avLst/>
          </a:prstGeom>
          <a:solidFill>
            <a:srgbClr val="13232B"/>
          </a:solidFill>
          <a:ln w="12700">
            <a:solidFill>
              <a:srgbClr val="13232B"/>
            </a:solidFill>
            <a:prstDash val="solid"/>
          </a:ln>
        </p:spPr>
      </p:sp>
      <p:sp>
        <p:nvSpPr>
          <p:cNvPr id="21" name="Text 19"/>
          <p:cNvSpPr txBox="1"/>
          <p:nvPr/>
        </p:nvSpPr>
        <p:spPr>
          <a:xfrm>
            <a:off x="7132320" y="2377440"/>
            <a:ext cx="1051560" cy="548640"/>
          </a:xfrm>
          <a:prstGeom prst="rect">
            <a:avLst/>
          </a:prstGeom>
          <a:noFill/>
          <a:ln/>
        </p:spPr>
        <p:txBody>
          <a:bodyPr wrap="square" lIns="0" tIns="0" rIns="0" bIns="0" rtlCol="0" anchor="ctr"/>
          <a:lstStyle/>
          <a:p>
            <a:pPr indent="0" marL="0">
              <a:buNone/>
            </a:pPr>
            <a:r>
              <a:rPr lang="en-US" sz="3000" b="1" dirty="0">
                <a:solidFill>
                  <a:srgbClr val="E3A03A"/>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7132320" y="3017520"/>
            <a:ext cx="11430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Quarterise</a:t>
            </a:r>
            <a:endParaRPr lang="en-US" sz="1600" dirty="0"/>
          </a:p>
        </p:txBody>
      </p:sp>
      <p:sp>
        <p:nvSpPr>
          <p:cNvPr id="23" name="Text 21"/>
          <p:cNvSpPr txBox="1"/>
          <p:nvPr/>
        </p:nvSpPr>
        <p:spPr>
          <a:xfrm>
            <a:off x="7132320" y="3474720"/>
            <a:ext cx="1097280" cy="1188720"/>
          </a:xfrm>
          <a:prstGeom prst="rect">
            <a:avLst/>
          </a:prstGeom>
          <a:noFill/>
          <a:ln/>
        </p:spPr>
        <p:txBody>
          <a:bodyPr wrap="square" lIns="0" tIns="0" rIns="0" bIns="0" rtlCol="0" anchor="t"/>
          <a:lstStyle/>
          <a:p>
            <a:pPr indent="0" marL="0">
              <a:buNone/>
            </a:pPr>
            <a:r>
              <a:rPr lang="en-US" sz="1300" dirty="0">
                <a:solidFill>
                  <a:srgbClr val="C9D3D6"/>
                </a:solidFill>
                <a:latin typeface="Calibri" pitchFamily="34" charset="0"/>
                <a:ea typeface="Calibri" pitchFamily="34" charset="-122"/>
                <a:cs typeface="Calibri" pitchFamily="34" charset="-120"/>
              </a:rPr>
              <a:t>Derive Q4 and cash flows from YTD totals</a:t>
            </a:r>
            <a:endParaRPr lang="en-US" sz="1300" dirty="0"/>
          </a:p>
        </p:txBody>
      </p:sp>
      <p:sp>
        <p:nvSpPr>
          <p:cNvPr id="24" name="Shape 22"/>
          <p:cNvSpPr/>
          <p:nvPr/>
        </p:nvSpPr>
        <p:spPr>
          <a:xfrm>
            <a:off x="8549640" y="2148840"/>
            <a:ext cx="1417320" cy="2651760"/>
          </a:xfrm>
          <a:prstGeom prst="rect">
            <a:avLst/>
          </a:prstGeom>
          <a:solidFill>
            <a:srgbClr val="F1F4F4"/>
          </a:solidFill>
          <a:ln w="12700">
            <a:solidFill>
              <a:srgbClr val="F1F4F4"/>
            </a:solidFill>
            <a:prstDash val="solid"/>
          </a:ln>
        </p:spPr>
      </p:sp>
      <p:sp>
        <p:nvSpPr>
          <p:cNvPr id="25" name="Text 23"/>
          <p:cNvSpPr txBox="1"/>
          <p:nvPr/>
        </p:nvSpPr>
        <p:spPr>
          <a:xfrm>
            <a:off x="8732520" y="2377440"/>
            <a:ext cx="1051560" cy="548640"/>
          </a:xfrm>
          <a:prstGeom prst="rect">
            <a:avLst/>
          </a:prstGeom>
          <a:noFill/>
          <a:ln/>
        </p:spPr>
        <p:txBody>
          <a:bodyPr wrap="square" lIns="0" tIns="0" rIns="0" bIns="0" rtlCol="0" anchor="ctr"/>
          <a:lstStyle/>
          <a:p>
            <a:pPr indent="0" marL="0">
              <a:buNone/>
            </a:pPr>
            <a:r>
              <a:rPr lang="en-US" sz="3000" b="1" dirty="0">
                <a:solidFill>
                  <a:srgbClr val="E3A03A"/>
                </a:solidFill>
                <a:latin typeface="Cambria" pitchFamily="34" charset="0"/>
                <a:ea typeface="Cambria" pitchFamily="34" charset="-122"/>
                <a:cs typeface="Cambria" pitchFamily="34" charset="-120"/>
              </a:rPr>
              <a:t>06</a:t>
            </a:r>
            <a:endParaRPr lang="en-US" sz="3000" dirty="0"/>
          </a:p>
        </p:txBody>
      </p:sp>
      <p:sp>
        <p:nvSpPr>
          <p:cNvPr id="26" name="Text 24"/>
          <p:cNvSpPr txBox="1"/>
          <p:nvPr/>
        </p:nvSpPr>
        <p:spPr>
          <a:xfrm>
            <a:off x="8732520" y="3017520"/>
            <a:ext cx="1143000" cy="411480"/>
          </a:xfrm>
          <a:prstGeom prst="rect">
            <a:avLst/>
          </a:prstGeom>
          <a:noFill/>
          <a:ln/>
        </p:spPr>
        <p:txBody>
          <a:bodyPr wrap="square" lIns="0" tIns="0" rIns="0" bIns="0" rtlCol="0" anchor="ctr"/>
          <a:lstStyle/>
          <a:p>
            <a:pPr indent="0" marL="0">
              <a:buNone/>
            </a:pPr>
            <a:r>
              <a:rPr lang="en-US" sz="1600" b="1" dirty="0">
                <a:solidFill>
                  <a:srgbClr val="13232B"/>
                </a:solidFill>
                <a:latin typeface="Calibri" pitchFamily="34" charset="0"/>
                <a:ea typeface="Calibri" pitchFamily="34" charset="-122"/>
                <a:cs typeface="Calibri" pitchFamily="34" charset="-120"/>
              </a:rPr>
              <a:t>Engineer</a:t>
            </a:r>
            <a:endParaRPr lang="en-US" sz="1600" dirty="0"/>
          </a:p>
        </p:txBody>
      </p:sp>
      <p:sp>
        <p:nvSpPr>
          <p:cNvPr id="27" name="Text 25"/>
          <p:cNvSpPr txBox="1"/>
          <p:nvPr/>
        </p:nvSpPr>
        <p:spPr>
          <a:xfrm>
            <a:off x="8732520" y="3474720"/>
            <a:ext cx="1097280" cy="118872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Growth, ratios, earnings quality, Z-scores</a:t>
            </a:r>
            <a:endParaRPr lang="en-US" sz="1300" dirty="0"/>
          </a:p>
        </p:txBody>
      </p:sp>
      <p:sp>
        <p:nvSpPr>
          <p:cNvPr id="28" name="Shape 26"/>
          <p:cNvSpPr/>
          <p:nvPr/>
        </p:nvSpPr>
        <p:spPr>
          <a:xfrm>
            <a:off x="10149840" y="2148840"/>
            <a:ext cx="1417320" cy="2651760"/>
          </a:xfrm>
          <a:prstGeom prst="rect">
            <a:avLst/>
          </a:prstGeom>
          <a:solidFill>
            <a:srgbClr val="F1F4F4"/>
          </a:solidFill>
          <a:ln w="12700">
            <a:solidFill>
              <a:srgbClr val="F1F4F4"/>
            </a:solidFill>
            <a:prstDash val="solid"/>
          </a:ln>
        </p:spPr>
      </p:sp>
      <p:sp>
        <p:nvSpPr>
          <p:cNvPr id="29" name="Text 27"/>
          <p:cNvSpPr txBox="1"/>
          <p:nvPr/>
        </p:nvSpPr>
        <p:spPr>
          <a:xfrm>
            <a:off x="10332720" y="2377440"/>
            <a:ext cx="1051560" cy="548640"/>
          </a:xfrm>
          <a:prstGeom prst="rect">
            <a:avLst/>
          </a:prstGeom>
          <a:noFill/>
          <a:ln/>
        </p:spPr>
        <p:txBody>
          <a:bodyPr wrap="square" lIns="0" tIns="0" rIns="0" bIns="0" rtlCol="0" anchor="ctr"/>
          <a:lstStyle/>
          <a:p>
            <a:pPr indent="0" marL="0">
              <a:buNone/>
            </a:pPr>
            <a:r>
              <a:rPr lang="en-US" sz="3000" b="1" dirty="0">
                <a:solidFill>
                  <a:srgbClr val="E3A03A"/>
                </a:solidFill>
                <a:latin typeface="Cambria" pitchFamily="34" charset="0"/>
                <a:ea typeface="Cambria" pitchFamily="34" charset="-122"/>
                <a:cs typeface="Cambria" pitchFamily="34" charset="-120"/>
              </a:rPr>
              <a:t>07</a:t>
            </a:r>
            <a:endParaRPr lang="en-US" sz="3000" dirty="0"/>
          </a:p>
        </p:txBody>
      </p:sp>
      <p:sp>
        <p:nvSpPr>
          <p:cNvPr id="30" name="Text 28"/>
          <p:cNvSpPr txBox="1"/>
          <p:nvPr/>
        </p:nvSpPr>
        <p:spPr>
          <a:xfrm>
            <a:off x="10332720" y="3017520"/>
            <a:ext cx="1143000" cy="411480"/>
          </a:xfrm>
          <a:prstGeom prst="rect">
            <a:avLst/>
          </a:prstGeom>
          <a:noFill/>
          <a:ln/>
        </p:spPr>
        <p:txBody>
          <a:bodyPr wrap="square" lIns="0" tIns="0" rIns="0" bIns="0" rtlCol="0" anchor="ctr"/>
          <a:lstStyle/>
          <a:p>
            <a:pPr indent="0" marL="0">
              <a:buNone/>
            </a:pPr>
            <a:r>
              <a:rPr lang="en-US" sz="1600" b="1" dirty="0">
                <a:solidFill>
                  <a:srgbClr val="13232B"/>
                </a:solidFill>
                <a:latin typeface="Calibri" pitchFamily="34" charset="0"/>
                <a:ea typeface="Calibri" pitchFamily="34" charset="-122"/>
                <a:cs typeface="Calibri" pitchFamily="34" charset="-120"/>
              </a:rPr>
              <a:t>Validate</a:t>
            </a:r>
            <a:endParaRPr lang="en-US" sz="1600" dirty="0"/>
          </a:p>
        </p:txBody>
      </p:sp>
      <p:sp>
        <p:nvSpPr>
          <p:cNvPr id="31" name="Text 29"/>
          <p:cNvSpPr txBox="1"/>
          <p:nvPr/>
        </p:nvSpPr>
        <p:spPr>
          <a:xfrm>
            <a:off x="10332720" y="3474720"/>
            <a:ext cx="1097280" cy="118872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Reconcile to annual totals, flag, export</a:t>
            </a:r>
            <a:endParaRPr lang="en-US" sz="1300" dirty="0"/>
          </a:p>
        </p:txBody>
      </p:sp>
      <p:sp>
        <p:nvSpPr>
          <p:cNvPr id="32" name="Text 30"/>
          <p:cNvSpPr txBox="1"/>
          <p:nvPr/>
        </p:nvSpPr>
        <p:spPr>
          <a:xfrm>
            <a:off x="548640" y="5166360"/>
            <a:ext cx="11094415" cy="548640"/>
          </a:xfrm>
          <a:prstGeom prst="rect">
            <a:avLst/>
          </a:prstGeom>
          <a:noFill/>
          <a:ln/>
        </p:spPr>
        <p:txBody>
          <a:bodyPr wrap="square" lIns="0" tIns="0" rIns="0" bIns="0" rtlCol="0" anchor="ctr"/>
          <a:lstStyle/>
          <a:p>
            <a:pPr indent="0" marL="0">
              <a:buNone/>
            </a:pPr>
            <a:r>
              <a:rPr lang="en-US" sz="1500" i="1" dirty="0">
                <a:solidFill>
                  <a:srgbClr val="2E6F6A"/>
                </a:solidFill>
                <a:latin typeface="Calibri" pitchFamily="34" charset="0"/>
                <a:ea typeface="Calibri" pitchFamily="34" charset="-122"/>
                <a:cs typeface="Calibri" pitchFamily="34" charset="-120"/>
              </a:rPr>
              <a:t>Step 5 is where most of the difficulty lives: the SEC never files a standalone Q4, and most cash-flow figures are year-to-date only.</a:t>
            </a:r>
            <a:endParaRPr lang="en-US" sz="1500" dirty="0"/>
          </a:p>
        </p:txBody>
      </p:sp>
      <p:sp>
        <p:nvSpPr>
          <p:cNvPr id="33" name="Text 31"/>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34" name="Text 32"/>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QUARTERISATION</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Almost a third of quarterly values had to be derived</a:t>
            </a:r>
            <a:endParaRPr lang="en-US" sz="3200" dirty="0"/>
          </a:p>
        </p:txBody>
      </p:sp>
      <p:graphicFrame>
        <p:nvGraphicFramePr>
          <p:cNvPr id="4" name="Chart 0" descr=""/>
          <p:cNvGraphicFramePr/>
          <p:nvPr/>
        </p:nvGraphicFramePr>
        <p:xfrm>
          <a:off x="548640" y="1645920"/>
          <a:ext cx="640080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406640" y="1828800"/>
            <a:ext cx="4236415"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Reported 3-month</a:t>
            </a:r>
            <a:endParaRPr lang="en-US" sz="1700" dirty="0"/>
          </a:p>
        </p:txBody>
      </p:sp>
      <p:sp>
        <p:nvSpPr>
          <p:cNvPr id="6" name="Text 3"/>
          <p:cNvSpPr txBox="1"/>
          <p:nvPr/>
        </p:nvSpPr>
        <p:spPr>
          <a:xfrm>
            <a:off x="7406640" y="2212848"/>
            <a:ext cx="4236415"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Filed directly in a 10-Q.</a:t>
            </a:r>
            <a:endParaRPr lang="en-US" sz="1400" dirty="0"/>
          </a:p>
        </p:txBody>
      </p:sp>
      <p:sp>
        <p:nvSpPr>
          <p:cNvPr id="7" name="Text 4"/>
          <p:cNvSpPr txBox="1"/>
          <p:nvPr/>
        </p:nvSpPr>
        <p:spPr>
          <a:xfrm>
            <a:off x="7406640" y="3063240"/>
            <a:ext cx="4236415"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YTD difference</a:t>
            </a:r>
            <a:endParaRPr lang="en-US" sz="1700" dirty="0"/>
          </a:p>
        </p:txBody>
      </p:sp>
      <p:sp>
        <p:nvSpPr>
          <p:cNvPr id="8" name="Text 5"/>
          <p:cNvSpPr txBox="1"/>
          <p:nvPr/>
        </p:nvSpPr>
        <p:spPr>
          <a:xfrm>
            <a:off x="7406640" y="3447288"/>
            <a:ext cx="4236415"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Q2 = 6M − 3M, Q4 = 12M − 9M. Needed for every Q4 and most cash-flow figures.</a:t>
            </a:r>
            <a:endParaRPr lang="en-US" sz="1400" dirty="0"/>
          </a:p>
        </p:txBody>
      </p:sp>
      <p:sp>
        <p:nvSpPr>
          <p:cNvPr id="9" name="Text 6"/>
          <p:cNvSpPr txBox="1"/>
          <p:nvPr/>
        </p:nvSpPr>
        <p:spPr>
          <a:xfrm>
            <a:off x="7406640" y="4297680"/>
            <a:ext cx="4236415"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Annual minus 3Q</a:t>
            </a:r>
            <a:endParaRPr lang="en-US" sz="1700" dirty="0"/>
          </a:p>
        </p:txBody>
      </p:sp>
      <p:sp>
        <p:nvSpPr>
          <p:cNvPr id="10" name="Text 7"/>
          <p:cNvSpPr txBox="1"/>
          <p:nvPr/>
        </p:nvSpPr>
        <p:spPr>
          <a:xfrm>
            <a:off x="7406640" y="4681728"/>
            <a:ext cx="4236415"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Fallback when the 9-month figure is missing.</a:t>
            </a:r>
            <a:endParaRPr lang="en-US" sz="1400" dirty="0"/>
          </a:p>
        </p:txBody>
      </p:sp>
      <p:sp>
        <p:nvSpPr>
          <p:cNvPr id="11" name="Text 8"/>
          <p:cNvSpPr txBox="1"/>
          <p:nvPr/>
        </p:nvSpPr>
        <p:spPr>
          <a:xfrm>
            <a:off x="7406640" y="5532120"/>
            <a:ext cx="4236415" cy="365760"/>
          </a:xfrm>
          <a:prstGeom prst="rect">
            <a:avLst/>
          </a:prstGeom>
          <a:noFill/>
          <a:ln/>
        </p:spPr>
        <p:txBody>
          <a:bodyPr wrap="square" lIns="0" tIns="0" rIns="0" bIns="0" rtlCol="0" anchor="ctr"/>
          <a:lstStyle/>
          <a:p>
            <a:pPr indent="0" marL="0">
              <a:buNone/>
            </a:pPr>
            <a:r>
              <a:rPr lang="en-US" sz="1300" i="1" dirty="0">
                <a:solidFill>
                  <a:srgbClr val="2E6F6A"/>
                </a:solidFill>
                <a:latin typeface="Calibri" pitchFamily="34" charset="0"/>
                <a:ea typeface="Calibri" pitchFamily="34" charset="-122"/>
                <a:cs typeface="Calibri" pitchFamily="34" charset="-120"/>
              </a:rPr>
              <a:t>52/53-week years and 12/16-week retail quarters handled.</a:t>
            </a:r>
            <a:endParaRPr lang="en-US" sz="1300" dirty="0"/>
          </a:p>
        </p:txBody>
      </p:sp>
      <p:sp>
        <p:nvSpPr>
          <p:cNvPr id="12" name="Text 9"/>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13" name="Text 10"/>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KEY DESIGN DECISION</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Use numbers as first reported, not as restated</a:t>
            </a:r>
            <a:endParaRPr lang="en-US" sz="3200" dirty="0"/>
          </a:p>
        </p:txBody>
      </p:sp>
      <p:sp>
        <p:nvSpPr>
          <p:cNvPr id="4" name="Shape 2"/>
          <p:cNvSpPr/>
          <p:nvPr/>
        </p:nvSpPr>
        <p:spPr>
          <a:xfrm>
            <a:off x="548640" y="1920240"/>
            <a:ext cx="5349240" cy="3429000"/>
          </a:xfrm>
          <a:prstGeom prst="rect">
            <a:avLst/>
          </a:prstGeom>
          <a:solidFill>
            <a:srgbClr val="F1F4F4"/>
          </a:solidFill>
          <a:ln w="12700">
            <a:solidFill>
              <a:srgbClr val="F1F4F4"/>
            </a:solidFill>
            <a:prstDash val="solid"/>
          </a:ln>
        </p:spPr>
      </p:sp>
      <p:sp>
        <p:nvSpPr>
          <p:cNvPr id="5" name="Shape 3"/>
          <p:cNvSpPr/>
          <p:nvPr/>
        </p:nvSpPr>
        <p:spPr>
          <a:xfrm>
            <a:off x="914400" y="2240280"/>
            <a:ext cx="640080" cy="640080"/>
          </a:xfrm>
          <a:prstGeom prst="ellipse">
            <a:avLst/>
          </a:prstGeom>
          <a:solidFill>
            <a:srgbClr val="C4452F"/>
          </a:solidFill>
          <a:ln w="12700">
            <a:solidFill>
              <a:srgbClr val="C4452F"/>
            </a:solidFill>
            <a:prstDash val="solid"/>
          </a:ln>
        </p:spPr>
      </p:sp>
      <p:pic>
        <p:nvPicPr>
          <p:cNvPr id="6" name="Image 0" descr="preencoded.png">    </p:cNvPr>
          <p:cNvPicPr>
            <a:picLocks noChangeAspect="1"/>
          </p:cNvPicPr>
          <p:nvPr/>
        </p:nvPicPr>
        <p:blipFill>
          <a:blip r:embed="rId1"/>
          <a:stretch>
            <a:fillRect/>
          </a:stretch>
        </p:blipFill>
        <p:spPr>
          <a:xfrm>
            <a:off x="1080821" y="2406701"/>
            <a:ext cx="307238" cy="307238"/>
          </a:xfrm>
          <a:prstGeom prst="rect">
            <a:avLst/>
          </a:prstGeom>
        </p:spPr>
      </p:pic>
      <p:sp>
        <p:nvSpPr>
          <p:cNvPr id="7" name="Text 4"/>
          <p:cNvSpPr txBox="1"/>
          <p:nvPr/>
        </p:nvSpPr>
        <p:spPr>
          <a:xfrm>
            <a:off x="1737360" y="2331720"/>
            <a:ext cx="3886200" cy="457200"/>
          </a:xfrm>
          <a:prstGeom prst="rect">
            <a:avLst/>
          </a:prstGeom>
          <a:noFill/>
          <a:ln/>
        </p:spPr>
        <p:txBody>
          <a:bodyPr wrap="square" lIns="0" tIns="0" rIns="0" bIns="0" rtlCol="0" anchor="ctr"/>
          <a:lstStyle/>
          <a:p>
            <a:pPr indent="0" marL="0">
              <a:buNone/>
            </a:pPr>
            <a:r>
              <a:rPr lang="en-US" sz="2000" b="1" dirty="0">
                <a:solidFill>
                  <a:srgbClr val="13232B"/>
                </a:solidFill>
                <a:latin typeface="Cambria" pitchFamily="34" charset="0"/>
                <a:ea typeface="Cambria" pitchFamily="34" charset="-122"/>
                <a:cs typeface="Cambria" pitchFamily="34" charset="-120"/>
              </a:rPr>
              <a:t>First run: latest values</a:t>
            </a:r>
            <a:endParaRPr lang="en-US" sz="2000" dirty="0"/>
          </a:p>
        </p:txBody>
      </p:sp>
      <p:sp>
        <p:nvSpPr>
          <p:cNvPr id="8" name="Text 5"/>
          <p:cNvSpPr txBox="1"/>
          <p:nvPr/>
        </p:nvSpPr>
        <p:spPr>
          <a:xfrm>
            <a:off x="914400" y="3154680"/>
            <a:ext cx="4617720"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C2A30"/>
                </a:solidFill>
                <a:latin typeface="Calibri" pitchFamily="34" charset="0"/>
                <a:ea typeface="Calibri" pitchFamily="34" charset="-122"/>
                <a:cs typeface="Calibri" pitchFamily="34" charset="-120"/>
              </a:rPr>
              <a:t>After spin-offs, later 10-Ks recast earlier full years (3M, J&amp;J, Honeywell), but 9-month figures are never recast</a:t>
            </a:r>
            <a:endParaRPr lang="en-US" sz="1500" dirty="0"/>
          </a:p>
          <a:p>
            <a:pPr marL="342900" indent="-342900">
              <a:spcAft>
                <a:spcPts val="1000"/>
              </a:spcAft>
              <a:buSzPct val="100000"/>
              <a:buChar char="•"/>
            </a:pPr>
            <a:r>
              <a:rPr lang="en-US" sz="1500" dirty="0">
                <a:solidFill>
                  <a:srgbClr val="1C2A30"/>
                </a:solidFill>
                <a:latin typeface="Calibri" pitchFamily="34" charset="0"/>
                <a:ea typeface="Calibri" pitchFamily="34" charset="-122"/>
                <a:cs typeface="Calibri" pitchFamily="34" charset="-120"/>
              </a:rPr>
              <a:t>Recast full year − original 9 months gave a garbage Q4: 3M Q4 2022 revenue of $11M (actual ≈ $8B)</a:t>
            </a:r>
            <a:endParaRPr lang="en-US" sz="1500" dirty="0"/>
          </a:p>
          <a:p>
            <a:pPr marL="342900" indent="-342900">
              <a:spcAft>
                <a:spcPts val="1000"/>
              </a:spcAft>
              <a:buSzPct val="100000"/>
              <a:buChar char="•"/>
            </a:pPr>
            <a:r>
              <a:rPr lang="en-US" sz="1500" dirty="0">
                <a:solidFill>
                  <a:srgbClr val="1C2A30"/>
                </a:solidFill>
                <a:latin typeface="Calibri" pitchFamily="34" charset="0"/>
                <a:ea typeface="Calibri" pitchFamily="34" charset="-122"/>
                <a:cs typeface="Calibri" pitchFamily="34" charset="-120"/>
              </a:rPr>
              <a:t>Top anomalies were data errors, not events</a:t>
            </a:r>
            <a:endParaRPr lang="en-US" sz="1500" dirty="0"/>
          </a:p>
        </p:txBody>
      </p:sp>
      <p:sp>
        <p:nvSpPr>
          <p:cNvPr id="9" name="Shape 6"/>
          <p:cNvSpPr/>
          <p:nvPr/>
        </p:nvSpPr>
        <p:spPr>
          <a:xfrm>
            <a:off x="6291072" y="1920240"/>
            <a:ext cx="5349240" cy="3429000"/>
          </a:xfrm>
          <a:prstGeom prst="rect">
            <a:avLst/>
          </a:prstGeom>
          <a:solidFill>
            <a:srgbClr val="13232B"/>
          </a:solidFill>
          <a:ln w="12700">
            <a:solidFill>
              <a:srgbClr val="13232B"/>
            </a:solidFill>
            <a:prstDash val="solid"/>
          </a:ln>
        </p:spPr>
      </p:sp>
      <p:sp>
        <p:nvSpPr>
          <p:cNvPr id="10" name="Shape 7"/>
          <p:cNvSpPr/>
          <p:nvPr/>
        </p:nvSpPr>
        <p:spPr>
          <a:xfrm>
            <a:off x="6656832" y="2240280"/>
            <a:ext cx="640080" cy="640080"/>
          </a:xfrm>
          <a:prstGeom prst="ellipse">
            <a:avLst/>
          </a:prstGeom>
          <a:solidFill>
            <a:srgbClr val="2E6F6A"/>
          </a:solidFill>
          <a:ln w="12700">
            <a:solidFill>
              <a:srgbClr val="2E6F6A"/>
            </a:solidFill>
            <a:prstDash val="solid"/>
          </a:ln>
        </p:spPr>
      </p:sp>
      <p:pic>
        <p:nvPicPr>
          <p:cNvPr id="11" name="Image 1" descr="preencoded.png">    </p:cNvPr>
          <p:cNvPicPr>
            <a:picLocks noChangeAspect="1"/>
          </p:cNvPicPr>
          <p:nvPr/>
        </p:nvPicPr>
        <p:blipFill>
          <a:blip r:embed="rId2"/>
          <a:stretch>
            <a:fillRect/>
          </a:stretch>
        </p:blipFill>
        <p:spPr>
          <a:xfrm>
            <a:off x="6823253" y="2406701"/>
            <a:ext cx="307238" cy="307238"/>
          </a:xfrm>
          <a:prstGeom prst="rect">
            <a:avLst/>
          </a:prstGeom>
        </p:spPr>
      </p:pic>
      <p:sp>
        <p:nvSpPr>
          <p:cNvPr id="12" name="Text 8"/>
          <p:cNvSpPr txBox="1"/>
          <p:nvPr/>
        </p:nvSpPr>
        <p:spPr>
          <a:xfrm>
            <a:off x="7479792" y="2331720"/>
            <a:ext cx="38862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Final: point-in-time values</a:t>
            </a:r>
            <a:endParaRPr lang="en-US" sz="2000" dirty="0"/>
          </a:p>
        </p:txBody>
      </p:sp>
      <p:sp>
        <p:nvSpPr>
          <p:cNvPr id="13" name="Text 9"/>
          <p:cNvSpPr txBox="1"/>
          <p:nvPr/>
        </p:nvSpPr>
        <p:spPr>
          <a:xfrm>
            <a:off x="6656832" y="3154680"/>
            <a:ext cx="4617720"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4EAEC"/>
                </a:solidFill>
                <a:latin typeface="Calibri" pitchFamily="34" charset="0"/>
                <a:ea typeface="Calibri" pitchFamily="34" charset="-122"/>
                <a:cs typeface="Calibri" pitchFamily="34" charset="-120"/>
              </a:rPr>
              <a:t>Every figure is what investors saw when it was first filed: no look-ahead bias</a:t>
            </a:r>
            <a:endParaRPr lang="en-US" sz="1500" dirty="0"/>
          </a:p>
          <a:p>
            <a:pPr marL="342900" indent="-342900">
              <a:spcAft>
                <a:spcPts val="1000"/>
              </a:spcAft>
              <a:buSzPct val="100000"/>
              <a:buChar char="•"/>
            </a:pPr>
            <a:r>
              <a:rPr lang="en-US" sz="1500" dirty="0">
                <a:solidFill>
                  <a:srgbClr val="E4EAEC"/>
                </a:solidFill>
                <a:latin typeface="Calibri" pitchFamily="34" charset="0"/>
                <a:ea typeface="Calibri" pitchFamily="34" charset="-122"/>
                <a:cs typeface="Calibri" pitchFamily="34" charset="-120"/>
              </a:rPr>
              <a:t>Restated value kept alongside, so restatements become a feature</a:t>
            </a:r>
            <a:endParaRPr lang="en-US" sz="1500" dirty="0"/>
          </a:p>
          <a:p>
            <a:pPr marL="342900" indent="-342900">
              <a:spcAft>
                <a:spcPts val="1000"/>
              </a:spcAft>
              <a:buSzPct val="100000"/>
              <a:buChar char="•"/>
            </a:pPr>
            <a:r>
              <a:rPr lang="en-US" sz="1500" dirty="0">
                <a:solidFill>
                  <a:srgbClr val="E4EAEC"/>
                </a:solidFill>
                <a:latin typeface="Calibri" pitchFamily="34" charset="0"/>
                <a:ea typeface="Calibri" pitchFamily="34" charset="-122"/>
                <a:cs typeface="Calibri" pitchFamily="34" charset="-120"/>
              </a:rPr>
              <a:t>Impossible quarters eliminated; 5 full-year values mis-tagged as quarters removed</a:t>
            </a:r>
            <a:endParaRPr lang="en-US" sz="1500" dirty="0"/>
          </a:p>
          <a:p>
            <a:pPr marL="342900" indent="-342900">
              <a:spcAft>
                <a:spcPts val="1000"/>
              </a:spcAft>
              <a:buSzPct val="100000"/>
              <a:buChar char="•"/>
            </a:pPr>
            <a:r>
              <a:rPr lang="en-US" sz="1500" dirty="0">
                <a:solidFill>
                  <a:srgbClr val="E4EAEC"/>
                </a:solidFill>
                <a:latin typeface="Calibri" pitchFamily="34" charset="0"/>
                <a:ea typeface="Calibri" pitchFamily="34" charset="-122"/>
                <a:cs typeface="Calibri" pitchFamily="34" charset="-120"/>
              </a:rPr>
              <a:t>Top anomalies now match documented real events</a:t>
            </a:r>
            <a:endParaRPr lang="en-US" sz="1500" dirty="0"/>
          </a:p>
        </p:txBody>
      </p:sp>
      <p:sp>
        <p:nvSpPr>
          <p:cNvPr id="14" name="Text 10"/>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15" name="Text 11"/>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FEATURE ENGINEERING</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Four feature families, all ratio-based</a:t>
            </a:r>
            <a:endParaRPr lang="en-US" sz="3200" dirty="0"/>
          </a:p>
        </p:txBody>
      </p:sp>
      <p:sp>
        <p:nvSpPr>
          <p:cNvPr id="4" name="Shape 2"/>
          <p:cNvSpPr/>
          <p:nvPr/>
        </p:nvSpPr>
        <p:spPr>
          <a:xfrm>
            <a:off x="548640" y="1691640"/>
            <a:ext cx="3246120" cy="1965960"/>
          </a:xfrm>
          <a:prstGeom prst="rect">
            <a:avLst/>
          </a:prstGeom>
          <a:solidFill>
            <a:srgbClr val="F1F4F4"/>
          </a:solidFill>
          <a:ln w="12700">
            <a:solidFill>
              <a:srgbClr val="F1F4F4"/>
            </a:solidFill>
            <a:prstDash val="solid"/>
          </a:ln>
        </p:spPr>
      </p:sp>
      <p:sp>
        <p:nvSpPr>
          <p:cNvPr id="5" name="Shape 3"/>
          <p:cNvSpPr/>
          <p:nvPr/>
        </p:nvSpPr>
        <p:spPr>
          <a:xfrm>
            <a:off x="822960" y="1965960"/>
            <a:ext cx="548640" cy="548640"/>
          </a:xfrm>
          <a:prstGeom prst="ellipse">
            <a:avLst/>
          </a:prstGeom>
          <a:solidFill>
            <a:srgbClr val="E3A03A"/>
          </a:solidFill>
          <a:ln w="12700">
            <a:solidFill>
              <a:srgbClr val="E3A03A"/>
            </a:solidFill>
            <a:prstDash val="solid"/>
          </a:ln>
        </p:spPr>
      </p:sp>
      <p:pic>
        <p:nvPicPr>
          <p:cNvPr id="6" name="Image 0" descr="preencoded.png">    </p:cNvPr>
          <p:cNvPicPr>
            <a:picLocks noChangeAspect="1"/>
          </p:cNvPicPr>
          <p:nvPr/>
        </p:nvPicPr>
        <p:blipFill>
          <a:blip r:embed="rId1"/>
          <a:stretch>
            <a:fillRect/>
          </a:stretch>
        </p:blipFill>
        <p:spPr>
          <a:xfrm>
            <a:off x="965606" y="2108606"/>
            <a:ext cx="263347" cy="263347"/>
          </a:xfrm>
          <a:prstGeom prst="rect">
            <a:avLst/>
          </a:prstGeom>
        </p:spPr>
      </p:pic>
      <p:sp>
        <p:nvSpPr>
          <p:cNvPr id="7" name="Text 4"/>
          <p:cNvSpPr txBox="1"/>
          <p:nvPr/>
        </p:nvSpPr>
        <p:spPr>
          <a:xfrm>
            <a:off x="1508760" y="2011680"/>
            <a:ext cx="2103120" cy="45720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Growth</a:t>
            </a:r>
            <a:endParaRPr lang="en-US" sz="1700" dirty="0"/>
          </a:p>
        </p:txBody>
      </p:sp>
      <p:sp>
        <p:nvSpPr>
          <p:cNvPr id="8" name="Text 5"/>
          <p:cNvSpPr txBox="1"/>
          <p:nvPr/>
        </p:nvSpPr>
        <p:spPr>
          <a:xfrm>
            <a:off x="822960" y="2651760"/>
            <a:ext cx="2743200" cy="91440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Revenue QoQ and YoY growth; YoY growth of COGS, SG&amp;A, net income, receivables, inventory, deferred revenue</a:t>
            </a:r>
            <a:endParaRPr lang="en-US" sz="1300" dirty="0"/>
          </a:p>
        </p:txBody>
      </p:sp>
      <p:sp>
        <p:nvSpPr>
          <p:cNvPr id="9" name="Shape 6"/>
          <p:cNvSpPr/>
          <p:nvPr/>
        </p:nvSpPr>
        <p:spPr>
          <a:xfrm>
            <a:off x="4069080" y="1691640"/>
            <a:ext cx="3246120" cy="1965960"/>
          </a:xfrm>
          <a:prstGeom prst="rect">
            <a:avLst/>
          </a:prstGeom>
          <a:solidFill>
            <a:srgbClr val="F1F4F4"/>
          </a:solidFill>
          <a:ln w="12700">
            <a:solidFill>
              <a:srgbClr val="F1F4F4"/>
            </a:solidFill>
            <a:prstDash val="solid"/>
          </a:ln>
        </p:spPr>
      </p:sp>
      <p:sp>
        <p:nvSpPr>
          <p:cNvPr id="10" name="Shape 7"/>
          <p:cNvSpPr/>
          <p:nvPr/>
        </p:nvSpPr>
        <p:spPr>
          <a:xfrm>
            <a:off x="4343400" y="1965960"/>
            <a:ext cx="548640" cy="548640"/>
          </a:xfrm>
          <a:prstGeom prst="ellipse">
            <a:avLst/>
          </a:prstGeom>
          <a:solidFill>
            <a:srgbClr val="E3A03A"/>
          </a:solidFill>
          <a:ln w="12700">
            <a:solidFill>
              <a:srgbClr val="E3A03A"/>
            </a:solidFill>
            <a:prstDash val="solid"/>
          </a:ln>
        </p:spPr>
      </p:sp>
      <p:pic>
        <p:nvPicPr>
          <p:cNvPr id="11" name="Image 1" descr="preencoded.png">    </p:cNvPr>
          <p:cNvPicPr>
            <a:picLocks noChangeAspect="1"/>
          </p:cNvPicPr>
          <p:nvPr/>
        </p:nvPicPr>
        <p:blipFill>
          <a:blip r:embed="rId2"/>
          <a:stretch>
            <a:fillRect/>
          </a:stretch>
        </p:blipFill>
        <p:spPr>
          <a:xfrm>
            <a:off x="4486046" y="2108606"/>
            <a:ext cx="263347" cy="263347"/>
          </a:xfrm>
          <a:prstGeom prst="rect">
            <a:avLst/>
          </a:prstGeom>
        </p:spPr>
      </p:pic>
      <p:sp>
        <p:nvSpPr>
          <p:cNvPr id="12" name="Text 8"/>
          <p:cNvSpPr txBox="1"/>
          <p:nvPr/>
        </p:nvSpPr>
        <p:spPr>
          <a:xfrm>
            <a:off x="5029200" y="2011680"/>
            <a:ext cx="2103120" cy="45720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Expense ratios &amp; margins</a:t>
            </a:r>
            <a:endParaRPr lang="en-US" sz="1700" dirty="0"/>
          </a:p>
        </p:txBody>
      </p:sp>
      <p:sp>
        <p:nvSpPr>
          <p:cNvPr id="13" name="Text 9"/>
          <p:cNvSpPr txBox="1"/>
          <p:nvPr/>
        </p:nvSpPr>
        <p:spPr>
          <a:xfrm>
            <a:off x="4343400" y="2651760"/>
            <a:ext cx="2743200" cy="91440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COGS, SG&amp;A, R&amp;D and total expense-to-revenue; gross, operating, net margin and their YoY change</a:t>
            </a:r>
            <a:endParaRPr lang="en-US" sz="1300" dirty="0"/>
          </a:p>
        </p:txBody>
      </p:sp>
      <p:sp>
        <p:nvSpPr>
          <p:cNvPr id="14" name="Shape 10"/>
          <p:cNvSpPr/>
          <p:nvPr/>
        </p:nvSpPr>
        <p:spPr>
          <a:xfrm>
            <a:off x="548640" y="3931920"/>
            <a:ext cx="3246120" cy="1965960"/>
          </a:xfrm>
          <a:prstGeom prst="rect">
            <a:avLst/>
          </a:prstGeom>
          <a:solidFill>
            <a:srgbClr val="F1F4F4"/>
          </a:solidFill>
          <a:ln w="12700">
            <a:solidFill>
              <a:srgbClr val="F1F4F4"/>
            </a:solidFill>
            <a:prstDash val="solid"/>
          </a:ln>
        </p:spPr>
      </p:sp>
      <p:sp>
        <p:nvSpPr>
          <p:cNvPr id="15" name="Shape 11"/>
          <p:cNvSpPr/>
          <p:nvPr/>
        </p:nvSpPr>
        <p:spPr>
          <a:xfrm>
            <a:off x="822960" y="4206240"/>
            <a:ext cx="548640" cy="548640"/>
          </a:xfrm>
          <a:prstGeom prst="ellipse">
            <a:avLst/>
          </a:prstGeom>
          <a:solidFill>
            <a:srgbClr val="E3A03A"/>
          </a:solidFill>
          <a:ln w="12700">
            <a:solidFill>
              <a:srgbClr val="E3A03A"/>
            </a:solidFill>
            <a:prstDash val="solid"/>
          </a:ln>
        </p:spPr>
      </p:sp>
      <p:pic>
        <p:nvPicPr>
          <p:cNvPr id="16" name="Image 2" descr="preencoded.png">    </p:cNvPr>
          <p:cNvPicPr>
            <a:picLocks noChangeAspect="1"/>
          </p:cNvPicPr>
          <p:nvPr/>
        </p:nvPicPr>
        <p:blipFill>
          <a:blip r:embed="rId3"/>
          <a:stretch>
            <a:fillRect/>
          </a:stretch>
        </p:blipFill>
        <p:spPr>
          <a:xfrm>
            <a:off x="965606" y="4348886"/>
            <a:ext cx="263347" cy="263347"/>
          </a:xfrm>
          <a:prstGeom prst="rect">
            <a:avLst/>
          </a:prstGeom>
        </p:spPr>
      </p:pic>
      <p:sp>
        <p:nvSpPr>
          <p:cNvPr id="17" name="Text 12"/>
          <p:cNvSpPr txBox="1"/>
          <p:nvPr/>
        </p:nvSpPr>
        <p:spPr>
          <a:xfrm>
            <a:off x="1508760" y="4251960"/>
            <a:ext cx="2103120" cy="45720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Earnings quality</a:t>
            </a:r>
            <a:endParaRPr lang="en-US" sz="1700" dirty="0"/>
          </a:p>
        </p:txBody>
      </p:sp>
      <p:sp>
        <p:nvSpPr>
          <p:cNvPr id="18" name="Text 13"/>
          <p:cNvSpPr txBox="1"/>
          <p:nvPr/>
        </p:nvSpPr>
        <p:spPr>
          <a:xfrm>
            <a:off x="822960" y="4892040"/>
            <a:ext cx="2743200" cy="91440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Days sales outstanding, receivables growth − revenue growth, Sloan accruals, cash conversion, leverage</a:t>
            </a:r>
            <a:endParaRPr lang="en-US" sz="1300" dirty="0"/>
          </a:p>
        </p:txBody>
      </p:sp>
      <p:sp>
        <p:nvSpPr>
          <p:cNvPr id="19" name="Shape 14"/>
          <p:cNvSpPr/>
          <p:nvPr/>
        </p:nvSpPr>
        <p:spPr>
          <a:xfrm>
            <a:off x="4069080" y="3931920"/>
            <a:ext cx="3246120" cy="1965960"/>
          </a:xfrm>
          <a:prstGeom prst="rect">
            <a:avLst/>
          </a:prstGeom>
          <a:solidFill>
            <a:srgbClr val="F1F4F4"/>
          </a:solidFill>
          <a:ln w="12700">
            <a:solidFill>
              <a:srgbClr val="F1F4F4"/>
            </a:solidFill>
            <a:prstDash val="solid"/>
          </a:ln>
        </p:spPr>
      </p:sp>
      <p:sp>
        <p:nvSpPr>
          <p:cNvPr id="20" name="Shape 15"/>
          <p:cNvSpPr/>
          <p:nvPr/>
        </p:nvSpPr>
        <p:spPr>
          <a:xfrm>
            <a:off x="4343400" y="4206240"/>
            <a:ext cx="548640" cy="548640"/>
          </a:xfrm>
          <a:prstGeom prst="ellipse">
            <a:avLst/>
          </a:prstGeom>
          <a:solidFill>
            <a:srgbClr val="E3A03A"/>
          </a:solidFill>
          <a:ln w="12700">
            <a:solidFill>
              <a:srgbClr val="E3A03A"/>
            </a:solidFill>
            <a:prstDash val="solid"/>
          </a:ln>
        </p:spPr>
      </p:sp>
      <p:pic>
        <p:nvPicPr>
          <p:cNvPr id="21" name="Image 3" descr="preencoded.png">    </p:cNvPr>
          <p:cNvPicPr>
            <a:picLocks noChangeAspect="1"/>
          </p:cNvPicPr>
          <p:nvPr/>
        </p:nvPicPr>
        <p:blipFill>
          <a:blip r:embed="rId4"/>
          <a:stretch>
            <a:fillRect/>
          </a:stretch>
        </p:blipFill>
        <p:spPr>
          <a:xfrm>
            <a:off x="4486046" y="4348886"/>
            <a:ext cx="263347" cy="263347"/>
          </a:xfrm>
          <a:prstGeom prst="rect">
            <a:avLst/>
          </a:prstGeom>
        </p:spPr>
      </p:pic>
      <p:sp>
        <p:nvSpPr>
          <p:cNvPr id="22" name="Text 16"/>
          <p:cNvSpPr txBox="1"/>
          <p:nvPr/>
        </p:nvSpPr>
        <p:spPr>
          <a:xfrm>
            <a:off x="5029200" y="4251960"/>
            <a:ext cx="2103120" cy="45720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Unusual jumps</a:t>
            </a:r>
            <a:endParaRPr lang="en-US" sz="1700" dirty="0"/>
          </a:p>
        </p:txBody>
      </p:sp>
      <p:sp>
        <p:nvSpPr>
          <p:cNvPr id="23" name="Text 17"/>
          <p:cNvSpPr txBox="1"/>
          <p:nvPr/>
        </p:nvSpPr>
        <p:spPr>
          <a:xfrm>
            <a:off x="4343400" y="4892040"/>
            <a:ext cx="2743200" cy="914400"/>
          </a:xfrm>
          <a:prstGeom prst="rect">
            <a:avLst/>
          </a:prstGeom>
          <a:noFill/>
          <a:ln/>
        </p:spPr>
        <p:txBody>
          <a:bodyPr wrap="square" lIns="0" tIns="0" rIns="0" bIns="0" rtlCol="0" anchor="t"/>
          <a:lstStyle/>
          <a:p>
            <a:pPr indent="0" marL="0">
              <a:buNone/>
            </a:pPr>
            <a:r>
              <a:rPr lang="en-US" sz="1300" dirty="0">
                <a:solidFill>
                  <a:srgbClr val="5E6E75"/>
                </a:solidFill>
                <a:latin typeface="Calibri" pitchFamily="34" charset="0"/>
                <a:ea typeface="Calibri" pitchFamily="34" charset="-122"/>
                <a:cs typeface="Calibri" pitchFamily="34" charset="-120"/>
              </a:rPr>
              <a:t>Trailing Z-scores vs each company’s previous 8 quarters, plus robust median/MAD versions; no look-ahead</a:t>
            </a:r>
            <a:endParaRPr lang="en-US" sz="1300" dirty="0"/>
          </a:p>
        </p:txBody>
      </p:sp>
      <p:sp>
        <p:nvSpPr>
          <p:cNvPr id="24" name="Shape 18"/>
          <p:cNvSpPr/>
          <p:nvPr/>
        </p:nvSpPr>
        <p:spPr>
          <a:xfrm>
            <a:off x="7680960" y="1691640"/>
            <a:ext cx="3962095" cy="4206240"/>
          </a:xfrm>
          <a:prstGeom prst="rect">
            <a:avLst/>
          </a:prstGeom>
          <a:solidFill>
            <a:srgbClr val="13232B"/>
          </a:solidFill>
          <a:ln w="12700">
            <a:solidFill>
              <a:srgbClr val="13232B"/>
            </a:solidFill>
            <a:prstDash val="solid"/>
          </a:ln>
        </p:spPr>
      </p:sp>
      <p:sp>
        <p:nvSpPr>
          <p:cNvPr id="25" name="Text 19"/>
          <p:cNvSpPr txBox="1"/>
          <p:nvPr/>
        </p:nvSpPr>
        <p:spPr>
          <a:xfrm>
            <a:off x="8001000" y="1965960"/>
            <a:ext cx="3322015" cy="457200"/>
          </a:xfrm>
          <a:prstGeom prst="rect">
            <a:avLst/>
          </a:prstGeom>
          <a:noFill/>
          <a:ln/>
        </p:spPr>
        <p:txBody>
          <a:bodyPr wrap="square" lIns="0" tIns="0" rIns="0" bIns="0" rtlCol="0" anchor="ctr"/>
          <a:lstStyle/>
          <a:p>
            <a:pPr indent="0" marL="0">
              <a:buNone/>
            </a:pPr>
            <a:r>
              <a:rPr lang="en-US" sz="2000" b="1" dirty="0">
                <a:solidFill>
                  <a:srgbClr val="E3A03A"/>
                </a:solidFill>
                <a:latin typeface="Cambria" pitchFamily="34" charset="0"/>
                <a:ea typeface="Cambria" pitchFamily="34" charset="-122"/>
                <a:cs typeface="Cambria" pitchFamily="34" charset="-120"/>
              </a:rPr>
              <a:t>Annual file: Beneish M-Score</a:t>
            </a:r>
            <a:endParaRPr lang="en-US" sz="2000" dirty="0"/>
          </a:p>
        </p:txBody>
      </p:sp>
      <p:sp>
        <p:nvSpPr>
          <p:cNvPr id="26" name="Text 20"/>
          <p:cNvSpPr txBox="1"/>
          <p:nvPr/>
        </p:nvSpPr>
        <p:spPr>
          <a:xfrm>
            <a:off x="8001000" y="2514600"/>
            <a:ext cx="3322015" cy="1280160"/>
          </a:xfrm>
          <a:prstGeom prst="rect">
            <a:avLst/>
          </a:prstGeom>
          <a:noFill/>
          <a:ln/>
        </p:spPr>
        <p:txBody>
          <a:bodyPr wrap="square" lIns="0" tIns="0" rIns="0" bIns="0" rtlCol="0" anchor="t"/>
          <a:lstStyle/>
          <a:p>
            <a:pPr indent="0" marL="0">
              <a:buNone/>
            </a:pPr>
            <a:r>
              <a:rPr lang="en-US" sz="1400" dirty="0">
                <a:solidFill>
                  <a:srgbClr val="E4EAEC"/>
                </a:solidFill>
                <a:latin typeface="Calibri" pitchFamily="34" charset="0"/>
                <a:ea typeface="Calibri" pitchFamily="34" charset="-122"/>
                <a:cs typeface="Calibri" pitchFamily="34" charset="-120"/>
              </a:rPr>
              <a:t>All eight indices (DSRI, GMI, AQI, SGI, DEPI, SGAI, LVGI, TATA) and the combined score, flagged above the conventional −1.78 threshold.</a:t>
            </a:r>
            <a:endParaRPr lang="en-US" sz="1400" dirty="0"/>
          </a:p>
        </p:txBody>
      </p:sp>
      <p:sp>
        <p:nvSpPr>
          <p:cNvPr id="27" name="Text 21"/>
          <p:cNvSpPr txBox="1"/>
          <p:nvPr/>
        </p:nvSpPr>
        <p:spPr>
          <a:xfrm>
            <a:off x="8001000" y="3977640"/>
            <a:ext cx="3322015"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Provenance on every row</a:t>
            </a:r>
            <a:endParaRPr lang="en-US" sz="1600" dirty="0"/>
          </a:p>
        </p:txBody>
      </p:sp>
      <p:sp>
        <p:nvSpPr>
          <p:cNvPr id="28" name="Text 22"/>
          <p:cNvSpPr txBox="1"/>
          <p:nvPr/>
        </p:nvSpPr>
        <p:spPr>
          <a:xfrm>
            <a:off x="8001000" y="4389120"/>
            <a:ext cx="3322015" cy="1097280"/>
          </a:xfrm>
          <a:prstGeom prst="rect">
            <a:avLst/>
          </a:prstGeom>
          <a:noFill/>
          <a:ln/>
        </p:spPr>
        <p:txBody>
          <a:bodyPr wrap="square" lIns="0" tIns="0" rIns="0" bIns="0" rtlCol="0" anchor="t"/>
          <a:lstStyle/>
          <a:p>
            <a:pPr indent="0" marL="0">
              <a:buNone/>
            </a:pPr>
            <a:r>
              <a:rPr lang="en-US" sz="1400" dirty="0">
                <a:solidFill>
                  <a:srgbClr val="E4EAEC"/>
                </a:solidFill>
                <a:latin typeface="Calibri" pitchFamily="34" charset="0"/>
                <a:ea typeface="Calibri" pitchFamily="34" charset="-122"/>
                <a:cs typeface="Calibri" pitchFamily="34" charset="-120"/>
              </a:rPr>
              <a:t>Restatement %, amendment flag, XBRL tag used, derivation method and data-quality flags, so any value can be traced to its filing.</a:t>
            </a:r>
            <a:endParaRPr lang="en-US" sz="1400" dirty="0"/>
          </a:p>
        </p:txBody>
      </p:sp>
      <p:sp>
        <p:nvSpPr>
          <p:cNvPr id="29" name="Text 23"/>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30" name="Text 24"/>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DATA QUALITY</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Coverage is strong, and gaps are flagged, not hidden</a:t>
            </a:r>
            <a:endParaRPr lang="en-US" sz="3200" dirty="0"/>
          </a:p>
        </p:txBody>
      </p:sp>
      <p:sp>
        <p:nvSpPr>
          <p:cNvPr id="4" name="Text 2"/>
          <p:cNvSpPr txBox="1"/>
          <p:nvPr/>
        </p:nvSpPr>
        <p:spPr>
          <a:xfrm>
            <a:off x="548640" y="1737360"/>
            <a:ext cx="1920240" cy="731520"/>
          </a:xfrm>
          <a:prstGeom prst="rect">
            <a:avLst/>
          </a:prstGeom>
          <a:noFill/>
          <a:ln/>
        </p:spPr>
        <p:txBody>
          <a:bodyPr wrap="square" lIns="0" tIns="0" rIns="0" bIns="0" rtlCol="0" anchor="ctr"/>
          <a:lstStyle/>
          <a:p>
            <a:pPr indent="0" marL="0">
              <a:buNone/>
            </a:pPr>
            <a:r>
              <a:rPr lang="en-US" sz="4000" b="1" dirty="0">
                <a:solidFill>
                  <a:srgbClr val="13232B"/>
                </a:solidFill>
                <a:latin typeface="Cambria" pitchFamily="34" charset="0"/>
                <a:ea typeface="Cambria" pitchFamily="34" charset="-122"/>
                <a:cs typeface="Cambria" pitchFamily="34" charset="-120"/>
              </a:rPr>
              <a:t>100%</a:t>
            </a:r>
            <a:endParaRPr lang="en-US" sz="4000" dirty="0"/>
          </a:p>
        </p:txBody>
      </p:sp>
      <p:sp>
        <p:nvSpPr>
          <p:cNvPr id="5" name="Text 3"/>
          <p:cNvSpPr txBox="1"/>
          <p:nvPr/>
        </p:nvSpPr>
        <p:spPr>
          <a:xfrm>
            <a:off x="2560320" y="1847088"/>
            <a:ext cx="2926080" cy="640080"/>
          </a:xfrm>
          <a:prstGeom prst="rect">
            <a:avLst/>
          </a:prstGeom>
          <a:noFill/>
          <a:ln/>
        </p:spPr>
        <p:txBody>
          <a:bodyPr wrap="square" lIns="0" tIns="0" rIns="0" bIns="0" rtlCol="0" anchor="ctr"/>
          <a:lstStyle/>
          <a:p>
            <a:pPr indent="0" marL="0">
              <a:buNone/>
            </a:pPr>
            <a:r>
              <a:rPr lang="en-US" sz="1400" dirty="0">
                <a:solidFill>
                  <a:srgbClr val="5E6E75"/>
                </a:solidFill>
                <a:latin typeface="Calibri" pitchFamily="34" charset="0"/>
                <a:ea typeface="Calibri" pitchFamily="34" charset="-122"/>
                <a:cs typeface="Calibri" pitchFamily="34" charset="-120"/>
              </a:rPr>
              <a:t>revenue coverage for 25 of 26 companies</a:t>
            </a:r>
            <a:endParaRPr lang="en-US" sz="1400" dirty="0"/>
          </a:p>
        </p:txBody>
      </p:sp>
      <p:sp>
        <p:nvSpPr>
          <p:cNvPr id="6" name="Text 4"/>
          <p:cNvSpPr txBox="1"/>
          <p:nvPr/>
        </p:nvSpPr>
        <p:spPr>
          <a:xfrm>
            <a:off x="548640" y="3108960"/>
            <a:ext cx="1920240" cy="731520"/>
          </a:xfrm>
          <a:prstGeom prst="rect">
            <a:avLst/>
          </a:prstGeom>
          <a:noFill/>
          <a:ln/>
        </p:spPr>
        <p:txBody>
          <a:bodyPr wrap="square" lIns="0" tIns="0" rIns="0" bIns="0" rtlCol="0" anchor="ctr"/>
          <a:lstStyle/>
          <a:p>
            <a:pPr indent="0" marL="0">
              <a:buNone/>
            </a:pPr>
            <a:r>
              <a:rPr lang="en-US" sz="4000" b="1" dirty="0">
                <a:solidFill>
                  <a:srgbClr val="13232B"/>
                </a:solidFill>
                <a:latin typeface="Cambria" pitchFamily="34" charset="0"/>
                <a:ea typeface="Cambria" pitchFamily="34" charset="-122"/>
                <a:cs typeface="Cambria" pitchFamily="34" charset="-120"/>
              </a:rPr>
              <a:t>≥96%</a:t>
            </a:r>
            <a:endParaRPr lang="en-US" sz="4000" dirty="0"/>
          </a:p>
        </p:txBody>
      </p:sp>
      <p:sp>
        <p:nvSpPr>
          <p:cNvPr id="7" name="Text 5"/>
          <p:cNvSpPr txBox="1"/>
          <p:nvPr/>
        </p:nvSpPr>
        <p:spPr>
          <a:xfrm>
            <a:off x="2560320" y="3218688"/>
            <a:ext cx="2926080" cy="640080"/>
          </a:xfrm>
          <a:prstGeom prst="rect">
            <a:avLst/>
          </a:prstGeom>
          <a:noFill/>
          <a:ln/>
        </p:spPr>
        <p:txBody>
          <a:bodyPr wrap="square" lIns="0" tIns="0" rIns="0" bIns="0" rtlCol="0" anchor="ctr"/>
          <a:lstStyle/>
          <a:p>
            <a:pPr indent="0" marL="0">
              <a:buNone/>
            </a:pPr>
            <a:r>
              <a:rPr lang="en-US" sz="1400" dirty="0">
                <a:solidFill>
                  <a:srgbClr val="5E6E75"/>
                </a:solidFill>
                <a:latin typeface="Calibri" pitchFamily="34" charset="0"/>
                <a:ea typeface="Calibri" pitchFamily="34" charset="-122"/>
                <a:cs typeface="Calibri" pitchFamily="34" charset="-120"/>
              </a:rPr>
              <a:t>operating cash-flow coverage, every company</a:t>
            </a:r>
            <a:endParaRPr lang="en-US" sz="1400" dirty="0"/>
          </a:p>
        </p:txBody>
      </p:sp>
      <p:sp>
        <p:nvSpPr>
          <p:cNvPr id="8" name="Text 6"/>
          <p:cNvSpPr txBox="1"/>
          <p:nvPr/>
        </p:nvSpPr>
        <p:spPr>
          <a:xfrm>
            <a:off x="548640" y="4480560"/>
            <a:ext cx="1920240" cy="731520"/>
          </a:xfrm>
          <a:prstGeom prst="rect">
            <a:avLst/>
          </a:prstGeom>
          <a:noFill/>
          <a:ln/>
        </p:spPr>
        <p:txBody>
          <a:bodyPr wrap="square" lIns="0" tIns="0" rIns="0" bIns="0" rtlCol="0" anchor="ctr"/>
          <a:lstStyle/>
          <a:p>
            <a:pPr indent="0" marL="0">
              <a:buNone/>
            </a:pPr>
            <a:r>
              <a:rPr lang="en-US" sz="4000" b="1" dirty="0">
                <a:solidFill>
                  <a:srgbClr val="E3A03A"/>
                </a:solidFill>
                <a:latin typeface="Cambria" pitchFamily="34" charset="0"/>
                <a:ea typeface="Cambria" pitchFamily="34" charset="-122"/>
                <a:cs typeface="Cambria" pitchFamily="34" charset="-120"/>
              </a:rPr>
              <a:t>21</a:t>
            </a:r>
            <a:endParaRPr lang="en-US" sz="4000" dirty="0"/>
          </a:p>
        </p:txBody>
      </p:sp>
      <p:sp>
        <p:nvSpPr>
          <p:cNvPr id="9" name="Text 7"/>
          <p:cNvSpPr txBox="1"/>
          <p:nvPr/>
        </p:nvSpPr>
        <p:spPr>
          <a:xfrm>
            <a:off x="2560320" y="4590288"/>
            <a:ext cx="2926080" cy="640080"/>
          </a:xfrm>
          <a:prstGeom prst="rect">
            <a:avLst/>
          </a:prstGeom>
          <a:noFill/>
          <a:ln/>
        </p:spPr>
        <p:txBody>
          <a:bodyPr wrap="square" lIns="0" tIns="0" rIns="0" bIns="0" rtlCol="0" anchor="ctr"/>
          <a:lstStyle/>
          <a:p>
            <a:pPr indent="0" marL="0">
              <a:buNone/>
            </a:pPr>
            <a:r>
              <a:rPr lang="en-US" sz="1400" dirty="0">
                <a:solidFill>
                  <a:srgbClr val="5E6E75"/>
                </a:solidFill>
                <a:latin typeface="Calibri" pitchFamily="34" charset="0"/>
                <a:ea typeface="Calibri" pitchFamily="34" charset="-122"/>
                <a:cs typeface="Calibri" pitchFamily="34" charset="-120"/>
              </a:rPr>
              <a:t>company-years failing reconciliation, all flagged</a:t>
            </a:r>
            <a:endParaRPr lang="en-US" sz="1400" dirty="0"/>
          </a:p>
        </p:txBody>
      </p:sp>
      <p:sp>
        <p:nvSpPr>
          <p:cNvPr id="10" name="Text 8"/>
          <p:cNvSpPr txBox="1"/>
          <p:nvPr/>
        </p:nvSpPr>
        <p:spPr>
          <a:xfrm>
            <a:off x="548640" y="5486400"/>
            <a:ext cx="4754880" cy="731520"/>
          </a:xfrm>
          <a:prstGeom prst="rect">
            <a:avLst/>
          </a:prstGeom>
          <a:noFill/>
          <a:ln/>
        </p:spPr>
        <p:txBody>
          <a:bodyPr wrap="square" lIns="0" tIns="0" rIns="0" bIns="0" rtlCol="0" anchor="ctr"/>
          <a:lstStyle/>
          <a:p>
            <a:pPr indent="0" marL="0">
              <a:buNone/>
            </a:pPr>
            <a:r>
              <a:rPr lang="en-US" sz="1300" i="1" dirty="0">
                <a:solidFill>
                  <a:srgbClr val="2E6F6A"/>
                </a:solidFill>
                <a:latin typeface="Calibri" pitchFamily="34" charset="0"/>
                <a:ea typeface="Calibri" pitchFamily="34" charset="-122"/>
                <a:cs typeface="Calibri" pitchFamily="34" charset="-120"/>
              </a:rPr>
              <a:t>Remaining mismatches cluster in spin-off years (J&amp;J, 3M, Honeywell) and Under Armour, a reference company: worth a closer look in Deliverable 2.</a:t>
            </a:r>
            <a:endParaRPr lang="en-US" sz="1300" dirty="0"/>
          </a:p>
        </p:txBody>
      </p:sp>
      <p:graphicFrame>
        <p:nvGraphicFramePr>
          <p:cNvPr id="11" name="Chart 0" descr=""/>
          <p:cNvGraphicFramePr/>
          <p:nvPr/>
        </p:nvGraphicFramePr>
        <p:xfrm>
          <a:off x="5760720" y="1645920"/>
          <a:ext cx="5882335" cy="448056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13" name="Text 10"/>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EARLY SIGNAL CHECK</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The largest deviations match real corporate events</a:t>
            </a:r>
            <a:endParaRPr lang="en-US" sz="3200" dirty="0"/>
          </a:p>
        </p:txBody>
      </p:sp>
      <p:graphicFrame>
        <p:nvGraphicFramePr>
          <p:cNvPr id="4" name="Chart 0" descr=""/>
          <p:cNvGraphicFramePr/>
          <p:nvPr/>
        </p:nvGraphicFramePr>
        <p:xfrm>
          <a:off x="548640" y="1600200"/>
          <a:ext cx="548640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463040"/>
                <a:gridCol w="3779215"/>
              </a:tblGrid>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KHC Q4 2018</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~$15B goodwill &amp; intangible impairment</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r>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CSCO FY18 Q2</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US tax-reform charge</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ORCL FY22 Q2</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HP litigation charges ($4.7B in FY22)</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r>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PG FY19 Q4</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Gillette write-down</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KHC Q3 2015</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Kraft–Heinz merger (+136% YoY)</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r>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NKE FY20 Q4</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COVID store closures (−38% YoY)</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KHC Q2 2025</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$9.3B impairment charges</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r>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ADBE FY24 Q1</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$1B Figma termination fee</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250" b="1" dirty="0">
                          <a:solidFill>
                            <a:srgbClr val="13232B"/>
                          </a:solidFill>
                          <a:latin typeface="Calibri" pitchFamily="34" charset="0"/>
                          <a:ea typeface="Calibri" pitchFamily="34" charset="-122"/>
                          <a:cs typeface="Calibri" pitchFamily="34" charset="-120"/>
                        </a:rPr>
                        <a:t>MSFT FY15 Q4</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Nokia phone-business impairment</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1F4F4"/>
                    </a:solidFill>
                  </a:tcPr>
                </a:tc>
              </a:tr>
              <a:tr h="365760">
                <a:tc>
                  <a:txBody>
                    <a:bodyPr/>
                    <a:lstStyle/>
                    <a:p>
                      <a:pPr indent="0" marL="0">
                        <a:buNone/>
                      </a:pPr>
                      <a:r>
                        <a:rPr lang="en-US" sz="1250" b="1" dirty="0">
                          <a:solidFill>
                            <a:srgbClr val="C4452F"/>
                          </a:solidFill>
                          <a:latin typeface="Calibri" pitchFamily="34" charset="0"/>
                          <a:ea typeface="Calibri" pitchFamily="34" charset="-122"/>
                          <a:cs typeface="Calibri" pitchFamily="34" charset="-120"/>
                        </a:rPr>
                        <a:t>ORCL FY16 Q2</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50" dirty="0">
                          <a:solidFill>
                            <a:srgbClr val="C4452F"/>
                          </a:solidFill>
                          <a:latin typeface="Calibri" pitchFamily="34" charset="0"/>
                          <a:ea typeface="Calibri" pitchFamily="34" charset="-122"/>
                          <a:cs typeface="Calibri" pitchFamily="34" charset="-120"/>
                        </a:rPr>
                        <a:t>No obvious event: review</a:t>
                      </a:r>
                      <a:endParaRPr lang="en-US" sz="125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2"/>
          <p:cNvSpPr txBox="1"/>
          <p:nvPr/>
        </p:nvSpPr>
        <p:spPr>
          <a:xfrm>
            <a:off x="6400800" y="5532120"/>
            <a:ext cx="5242255" cy="640080"/>
          </a:xfrm>
          <a:prstGeom prst="rect">
            <a:avLst/>
          </a:prstGeom>
          <a:noFill/>
          <a:ln/>
        </p:spPr>
        <p:txBody>
          <a:bodyPr wrap="square" lIns="0" tIns="0" rIns="0" bIns="0" rtlCol="0" anchor="ctr"/>
          <a:lstStyle/>
          <a:p>
            <a:pPr indent="0" marL="0">
              <a:buNone/>
            </a:pPr>
            <a:r>
              <a:rPr lang="en-US" sz="1300" i="1" dirty="0">
                <a:solidFill>
                  <a:srgbClr val="2E6F6A"/>
                </a:solidFill>
                <a:latin typeface="Calibri" pitchFamily="34" charset="0"/>
                <a:ea typeface="Calibri" pitchFamily="34" charset="-122"/>
                <a:cs typeface="Calibri" pitchFamily="34" charset="-120"/>
              </a:rPr>
              <a:t>9 of 10 explained by disclosed one-off events. The detector works; Deliverable 2 must separate these from subtle, undisclosed patterns.</a:t>
            </a:r>
            <a:endParaRPr lang="en-US" sz="1300" dirty="0"/>
          </a:p>
        </p:txBody>
      </p:sp>
      <p:sp>
        <p:nvSpPr>
          <p:cNvPr id="7" name="Text 3"/>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8" name="Text 4"/>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LIMITATIONS</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Known gaps and how they are handled</a:t>
            </a:r>
            <a:endParaRPr lang="en-US" sz="3200" dirty="0"/>
          </a:p>
        </p:txBody>
      </p:sp>
      <p:sp>
        <p:nvSpPr>
          <p:cNvPr id="4" name="Shape 2"/>
          <p:cNvSpPr/>
          <p:nvPr/>
        </p:nvSpPr>
        <p:spPr>
          <a:xfrm>
            <a:off x="548640" y="1737360"/>
            <a:ext cx="594360" cy="594360"/>
          </a:xfrm>
          <a:prstGeom prst="ellipse">
            <a:avLst/>
          </a:prstGeom>
          <a:solidFill>
            <a:srgbClr val="E3A03A"/>
          </a:solidFill>
          <a:ln w="12700">
            <a:solidFill>
              <a:srgbClr val="E3A03A"/>
            </a:solidFill>
            <a:prstDash val="solid"/>
          </a:ln>
        </p:spPr>
      </p:sp>
      <p:pic>
        <p:nvPicPr>
          <p:cNvPr id="5" name="Image 0" descr="preencoded.png">    </p:cNvPr>
          <p:cNvPicPr>
            <a:picLocks noChangeAspect="1"/>
          </p:cNvPicPr>
          <p:nvPr/>
        </p:nvPicPr>
        <p:blipFill>
          <a:blip r:embed="rId1"/>
          <a:stretch>
            <a:fillRect/>
          </a:stretch>
        </p:blipFill>
        <p:spPr>
          <a:xfrm>
            <a:off x="703174" y="1891894"/>
            <a:ext cx="285293" cy="285293"/>
          </a:xfrm>
          <a:prstGeom prst="rect">
            <a:avLst/>
          </a:prstGeom>
        </p:spPr>
      </p:pic>
      <p:sp>
        <p:nvSpPr>
          <p:cNvPr id="6" name="Text 3"/>
          <p:cNvSpPr txBox="1"/>
          <p:nvPr/>
        </p:nvSpPr>
        <p:spPr>
          <a:xfrm>
            <a:off x="1371600" y="1719072"/>
            <a:ext cx="4480560"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US-GAAP, USD only</a:t>
            </a:r>
            <a:endParaRPr lang="en-US" sz="1700" dirty="0"/>
          </a:p>
        </p:txBody>
      </p:sp>
      <p:sp>
        <p:nvSpPr>
          <p:cNvPr id="7" name="Text 4"/>
          <p:cNvSpPr txBox="1"/>
          <p:nvPr/>
        </p:nvSpPr>
        <p:spPr>
          <a:xfrm>
            <a:off x="1371600" y="2103120"/>
            <a:ext cx="4480560"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Foreign filers reporting under IFRS (20-F) are out of scope.</a:t>
            </a:r>
            <a:endParaRPr lang="en-US" sz="1400" dirty="0"/>
          </a:p>
        </p:txBody>
      </p:sp>
      <p:sp>
        <p:nvSpPr>
          <p:cNvPr id="8" name="Shape 5"/>
          <p:cNvSpPr/>
          <p:nvPr/>
        </p:nvSpPr>
        <p:spPr>
          <a:xfrm>
            <a:off x="6291072" y="1737360"/>
            <a:ext cx="594360" cy="594360"/>
          </a:xfrm>
          <a:prstGeom prst="ellipse">
            <a:avLst/>
          </a:prstGeom>
          <a:solidFill>
            <a:srgbClr val="E3A03A"/>
          </a:solidFill>
          <a:ln w="12700">
            <a:solidFill>
              <a:srgbClr val="E3A03A"/>
            </a:solidFill>
            <a:prstDash val="solid"/>
          </a:ln>
        </p:spPr>
      </p:sp>
      <p:pic>
        <p:nvPicPr>
          <p:cNvPr id="9" name="Image 1" descr="preencoded.png">    </p:cNvPr>
          <p:cNvPicPr>
            <a:picLocks noChangeAspect="1"/>
          </p:cNvPicPr>
          <p:nvPr/>
        </p:nvPicPr>
        <p:blipFill>
          <a:blip r:embed="rId2"/>
          <a:stretch>
            <a:fillRect/>
          </a:stretch>
        </p:blipFill>
        <p:spPr>
          <a:xfrm>
            <a:off x="6445606" y="1891894"/>
            <a:ext cx="285293" cy="285293"/>
          </a:xfrm>
          <a:prstGeom prst="rect">
            <a:avLst/>
          </a:prstGeom>
        </p:spPr>
      </p:pic>
      <p:sp>
        <p:nvSpPr>
          <p:cNvPr id="10" name="Text 6"/>
          <p:cNvSpPr txBox="1"/>
          <p:nvPr/>
        </p:nvSpPr>
        <p:spPr>
          <a:xfrm>
            <a:off x="7114032" y="1719072"/>
            <a:ext cx="4480560"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Custom XBRL tags</a:t>
            </a:r>
            <a:endParaRPr lang="en-US" sz="1700" dirty="0"/>
          </a:p>
        </p:txBody>
      </p:sp>
      <p:sp>
        <p:nvSpPr>
          <p:cNvPr id="11" name="Text 7"/>
          <p:cNvSpPr txBox="1"/>
          <p:nvPr/>
        </p:nvSpPr>
        <p:spPr>
          <a:xfrm>
            <a:off x="7114032" y="2103120"/>
            <a:ext cx="4480560"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Company-specific tags aren’t captured; coverage report shows where this bites.</a:t>
            </a:r>
            <a:endParaRPr lang="en-US" sz="1400" dirty="0"/>
          </a:p>
        </p:txBody>
      </p:sp>
      <p:sp>
        <p:nvSpPr>
          <p:cNvPr id="12" name="Shape 8"/>
          <p:cNvSpPr/>
          <p:nvPr/>
        </p:nvSpPr>
        <p:spPr>
          <a:xfrm>
            <a:off x="548640" y="3154680"/>
            <a:ext cx="594360" cy="594360"/>
          </a:xfrm>
          <a:prstGeom prst="ellipse">
            <a:avLst/>
          </a:prstGeom>
          <a:solidFill>
            <a:srgbClr val="E3A03A"/>
          </a:solidFill>
          <a:ln w="12700">
            <a:solidFill>
              <a:srgbClr val="E3A03A"/>
            </a:solidFill>
            <a:prstDash val="solid"/>
          </a:ln>
        </p:spPr>
      </p:sp>
      <p:pic>
        <p:nvPicPr>
          <p:cNvPr id="13" name="Image 2" descr="preencoded.png">    </p:cNvPr>
          <p:cNvPicPr>
            <a:picLocks noChangeAspect="1"/>
          </p:cNvPicPr>
          <p:nvPr/>
        </p:nvPicPr>
        <p:blipFill>
          <a:blip r:embed="rId3"/>
          <a:stretch>
            <a:fillRect/>
          </a:stretch>
        </p:blipFill>
        <p:spPr>
          <a:xfrm>
            <a:off x="703174" y="3309214"/>
            <a:ext cx="285293" cy="285293"/>
          </a:xfrm>
          <a:prstGeom prst="rect">
            <a:avLst/>
          </a:prstGeom>
        </p:spPr>
      </p:pic>
      <p:sp>
        <p:nvSpPr>
          <p:cNvPr id="14" name="Text 9"/>
          <p:cNvSpPr txBox="1"/>
          <p:nvPr/>
        </p:nvSpPr>
        <p:spPr>
          <a:xfrm>
            <a:off x="1371600" y="3136392"/>
            <a:ext cx="4480560"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Recasts look like restatements</a:t>
            </a:r>
            <a:endParaRPr lang="en-US" sz="1700" dirty="0"/>
          </a:p>
        </p:txBody>
      </p:sp>
      <p:sp>
        <p:nvSpPr>
          <p:cNvPr id="15" name="Text 10"/>
          <p:cNvSpPr txBox="1"/>
          <p:nvPr/>
        </p:nvSpPr>
        <p:spPr>
          <a:xfrm>
            <a:off x="1371600" y="3520440"/>
            <a:ext cx="4480560"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Spin-off recasts are counted as changes; use restatement size and amendment flags to separate.</a:t>
            </a:r>
            <a:endParaRPr lang="en-US" sz="1400" dirty="0"/>
          </a:p>
        </p:txBody>
      </p:sp>
      <p:sp>
        <p:nvSpPr>
          <p:cNvPr id="16" name="Shape 11"/>
          <p:cNvSpPr/>
          <p:nvPr/>
        </p:nvSpPr>
        <p:spPr>
          <a:xfrm>
            <a:off x="6291072" y="3154680"/>
            <a:ext cx="594360" cy="594360"/>
          </a:xfrm>
          <a:prstGeom prst="ellipse">
            <a:avLst/>
          </a:prstGeom>
          <a:solidFill>
            <a:srgbClr val="E3A03A"/>
          </a:solidFill>
          <a:ln w="12700">
            <a:solidFill>
              <a:srgbClr val="E3A03A"/>
            </a:solidFill>
            <a:prstDash val="solid"/>
          </a:ln>
        </p:spPr>
      </p:sp>
      <p:pic>
        <p:nvPicPr>
          <p:cNvPr id="17" name="Image 3" descr="preencoded.png">    </p:cNvPr>
          <p:cNvPicPr>
            <a:picLocks noChangeAspect="1"/>
          </p:cNvPicPr>
          <p:nvPr/>
        </p:nvPicPr>
        <p:blipFill>
          <a:blip r:embed="rId4"/>
          <a:stretch>
            <a:fillRect/>
          </a:stretch>
        </p:blipFill>
        <p:spPr>
          <a:xfrm>
            <a:off x="6445606" y="3309214"/>
            <a:ext cx="285293" cy="285293"/>
          </a:xfrm>
          <a:prstGeom prst="rect">
            <a:avLst/>
          </a:prstGeom>
        </p:spPr>
      </p:pic>
      <p:sp>
        <p:nvSpPr>
          <p:cNvPr id="18" name="Text 12"/>
          <p:cNvSpPr txBox="1"/>
          <p:nvPr/>
        </p:nvSpPr>
        <p:spPr>
          <a:xfrm>
            <a:off x="7114032" y="3136392"/>
            <a:ext cx="4480560"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Structural breaks</a:t>
            </a:r>
            <a:endParaRPr lang="en-US" sz="1700" dirty="0"/>
          </a:p>
        </p:txBody>
      </p:sp>
      <p:sp>
        <p:nvSpPr>
          <p:cNvPr id="19" name="Text 13"/>
          <p:cNvSpPr txBox="1"/>
          <p:nvPr/>
        </p:nvSpPr>
        <p:spPr>
          <a:xfrm>
            <a:off x="7114032" y="3520440"/>
            <a:ext cx="4480560"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Spin-offs and mergers create genuine jumps (J&amp;J 2023, 3M 2024) that are not fraud.</a:t>
            </a:r>
            <a:endParaRPr lang="en-US" sz="1400" dirty="0"/>
          </a:p>
        </p:txBody>
      </p:sp>
      <p:sp>
        <p:nvSpPr>
          <p:cNvPr id="20" name="Shape 14"/>
          <p:cNvSpPr/>
          <p:nvPr/>
        </p:nvSpPr>
        <p:spPr>
          <a:xfrm>
            <a:off x="548640" y="4572000"/>
            <a:ext cx="594360" cy="594360"/>
          </a:xfrm>
          <a:prstGeom prst="ellipse">
            <a:avLst/>
          </a:prstGeom>
          <a:solidFill>
            <a:srgbClr val="E3A03A"/>
          </a:solidFill>
          <a:ln w="12700">
            <a:solidFill>
              <a:srgbClr val="E3A03A"/>
            </a:solidFill>
            <a:prstDash val="solid"/>
          </a:ln>
        </p:spPr>
      </p:sp>
      <p:pic>
        <p:nvPicPr>
          <p:cNvPr id="21" name="Image 4" descr="preencoded.png">    </p:cNvPr>
          <p:cNvPicPr>
            <a:picLocks noChangeAspect="1"/>
          </p:cNvPicPr>
          <p:nvPr/>
        </p:nvPicPr>
        <p:blipFill>
          <a:blip r:embed="rId5"/>
          <a:stretch>
            <a:fillRect/>
          </a:stretch>
        </p:blipFill>
        <p:spPr>
          <a:xfrm>
            <a:off x="703174" y="4726534"/>
            <a:ext cx="285293" cy="285293"/>
          </a:xfrm>
          <a:prstGeom prst="rect">
            <a:avLst/>
          </a:prstGeom>
        </p:spPr>
      </p:pic>
      <p:sp>
        <p:nvSpPr>
          <p:cNvPr id="22" name="Text 15"/>
          <p:cNvSpPr txBox="1"/>
          <p:nvPr/>
        </p:nvSpPr>
        <p:spPr>
          <a:xfrm>
            <a:off x="1371600" y="4553712"/>
            <a:ext cx="4480560"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Q4 is noisier</a:t>
            </a:r>
            <a:endParaRPr lang="en-US" sz="1700" dirty="0"/>
          </a:p>
        </p:txBody>
      </p:sp>
      <p:sp>
        <p:nvSpPr>
          <p:cNvPr id="23" name="Text 16"/>
          <p:cNvSpPr txBox="1"/>
          <p:nvPr/>
        </p:nvSpPr>
        <p:spPr>
          <a:xfrm>
            <a:off x="1371600" y="4937760"/>
            <a:ext cx="4480560"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Derived Q4 absorbs year-end adjustments; fiscal quarter should be a model control.</a:t>
            </a:r>
            <a:endParaRPr lang="en-US" sz="1400" dirty="0"/>
          </a:p>
        </p:txBody>
      </p:sp>
      <p:sp>
        <p:nvSpPr>
          <p:cNvPr id="24" name="Shape 17"/>
          <p:cNvSpPr/>
          <p:nvPr/>
        </p:nvSpPr>
        <p:spPr>
          <a:xfrm>
            <a:off x="6291072" y="4572000"/>
            <a:ext cx="594360" cy="594360"/>
          </a:xfrm>
          <a:prstGeom prst="ellipse">
            <a:avLst/>
          </a:prstGeom>
          <a:solidFill>
            <a:srgbClr val="E3A03A"/>
          </a:solidFill>
          <a:ln w="12700">
            <a:solidFill>
              <a:srgbClr val="E3A03A"/>
            </a:solidFill>
            <a:prstDash val="solid"/>
          </a:ln>
        </p:spPr>
      </p:sp>
      <p:pic>
        <p:nvPicPr>
          <p:cNvPr id="25" name="Image 5" descr="preencoded.png">    </p:cNvPr>
          <p:cNvPicPr>
            <a:picLocks noChangeAspect="1"/>
          </p:cNvPicPr>
          <p:nvPr/>
        </p:nvPicPr>
        <p:blipFill>
          <a:blip r:embed="rId6"/>
          <a:stretch>
            <a:fillRect/>
          </a:stretch>
        </p:blipFill>
        <p:spPr>
          <a:xfrm>
            <a:off x="6445606" y="4726534"/>
            <a:ext cx="285293" cy="285293"/>
          </a:xfrm>
          <a:prstGeom prst="rect">
            <a:avLst/>
          </a:prstGeom>
        </p:spPr>
      </p:pic>
      <p:sp>
        <p:nvSpPr>
          <p:cNvPr id="26" name="Text 18"/>
          <p:cNvSpPr txBox="1"/>
          <p:nvPr/>
        </p:nvSpPr>
        <p:spPr>
          <a:xfrm>
            <a:off x="7114032" y="4553712"/>
            <a:ext cx="4480560" cy="365760"/>
          </a:xfrm>
          <a:prstGeom prst="rect">
            <a:avLst/>
          </a:prstGeom>
          <a:noFill/>
          <a:ln/>
        </p:spPr>
        <p:txBody>
          <a:bodyPr wrap="square" lIns="0" tIns="0" rIns="0" bIns="0" rtlCol="0" anchor="ctr"/>
          <a:lstStyle/>
          <a:p>
            <a:pPr indent="0" marL="0">
              <a:buNone/>
            </a:pPr>
            <a:r>
              <a:rPr lang="en-US" sz="1700" b="1" dirty="0">
                <a:solidFill>
                  <a:srgbClr val="13232B"/>
                </a:solidFill>
                <a:latin typeface="Calibri" pitchFamily="34" charset="0"/>
                <a:ea typeface="Calibri" pitchFamily="34" charset="-122"/>
                <a:cs typeface="Calibri" pitchFamily="34" charset="-120"/>
              </a:rPr>
              <a:t>Weak labels</a:t>
            </a:r>
            <a:endParaRPr lang="en-US" sz="1700" dirty="0"/>
          </a:p>
        </p:txBody>
      </p:sp>
      <p:sp>
        <p:nvSpPr>
          <p:cNvPr id="27" name="Text 19"/>
          <p:cNvSpPr txBox="1"/>
          <p:nvPr/>
        </p:nvSpPr>
        <p:spPr>
          <a:xfrm>
            <a:off x="7114032" y="4937760"/>
            <a:ext cx="4480560" cy="77724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Reference group is based on public reports; verify against SEC enforcement releases.</a:t>
            </a:r>
            <a:endParaRPr lang="en-US" sz="1400" dirty="0"/>
          </a:p>
        </p:txBody>
      </p:sp>
      <p:sp>
        <p:nvSpPr>
          <p:cNvPr id="28" name="Text 20"/>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29" name="Text 21"/>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300" kern="0" dirty="0">
                <a:solidFill>
                  <a:srgbClr val="2E6F6A"/>
                </a:solidFill>
                <a:latin typeface="Calibri" pitchFamily="34" charset="0"/>
                <a:ea typeface="Calibri" pitchFamily="34" charset="-122"/>
                <a:cs typeface="Calibri" pitchFamily="34" charset="-120"/>
              </a:rPr>
              <a:t>DELIVERABLES</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200" b="1" dirty="0">
                <a:solidFill>
                  <a:srgbClr val="13232B"/>
                </a:solidFill>
                <a:latin typeface="Cambria" pitchFamily="34" charset="0"/>
                <a:ea typeface="Cambria" pitchFamily="34" charset="-122"/>
                <a:cs typeface="Cambria" pitchFamily="34" charset="-120"/>
              </a:rPr>
              <a:t>Reproducible from one notebook</a:t>
            </a:r>
            <a:endParaRPr lang="en-US" sz="3200" dirty="0"/>
          </a:p>
        </p:txBody>
      </p:sp>
      <p:sp>
        <p:nvSpPr>
          <p:cNvPr id="4" name="Shape 2"/>
          <p:cNvSpPr/>
          <p:nvPr/>
        </p:nvSpPr>
        <p:spPr>
          <a:xfrm>
            <a:off x="548640" y="1691640"/>
            <a:ext cx="4754880" cy="4434840"/>
          </a:xfrm>
          <a:prstGeom prst="rect">
            <a:avLst/>
          </a:prstGeom>
          <a:solidFill>
            <a:srgbClr val="13232B"/>
          </a:solidFill>
          <a:ln w="12700">
            <a:solidFill>
              <a:srgbClr val="13232B"/>
            </a:solidFill>
            <a:prstDash val="solid"/>
          </a:ln>
        </p:spPr>
      </p:sp>
      <p:sp>
        <p:nvSpPr>
          <p:cNvPr id="5" name="Text 3"/>
          <p:cNvSpPr txBox="1"/>
          <p:nvPr/>
        </p:nvSpPr>
        <p:spPr>
          <a:xfrm>
            <a:off x="868680" y="1874520"/>
            <a:ext cx="4206240" cy="4069080"/>
          </a:xfrm>
          <a:prstGeom prst="rect">
            <a:avLst/>
          </a:prstGeom>
          <a:noFill/>
          <a:ln/>
        </p:spPr>
        <p:txBody>
          <a:bodyPr wrap="square" lIns="0" tIns="0" rIns="0" bIns="0" rtlCol="0" anchor="t"/>
          <a:lstStyle/>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README.md</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requirements.txt</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.gitignore</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notebooks/</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  01_edgar_data_extraction.ipynb</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data/processed/</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  quarterly_features.csv</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  annual_features.csv</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  facts_long.csv</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  coverage_report.csv</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docs/</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  data_dictionary.csv</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tests/</a:t>
            </a:r>
            <a:endParaRPr lang="en-US" sz="1300" dirty="0"/>
          </a:p>
          <a:p>
            <a:pPr indent="0" marL="0">
              <a:lnSpc>
                <a:spcPct val="105000"/>
              </a:lnSpc>
              <a:buNone/>
            </a:pPr>
            <a:r>
              <a:rPr lang="en-US" sz="1300" dirty="0">
                <a:solidFill>
                  <a:srgbClr val="E4EAEC"/>
                </a:solidFill>
                <a:latin typeface="Courier New" pitchFamily="34" charset="0"/>
                <a:ea typeface="Courier New" pitchFamily="34" charset="-122"/>
                <a:cs typeface="Courier New" pitchFamily="34" charset="-120"/>
              </a:rPr>
              <a:t>  test_fixture_generator.py</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60720" y="1691640"/>
          <a:ext cx="5882335" cy="914400"/>
        </p:xfrm>
        <a:graphic>
          <a:graphicData uri="http://schemas.openxmlformats.org/drawingml/2006/table">
            <a:tbl>
              <a:tblPr/>
              <a:tblGrid>
                <a:gridCol w="2651760"/>
                <a:gridCol w="1828800"/>
                <a:gridCol w="1401775"/>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2E6F6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Grain</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2E6F6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Size</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2E6F6A"/>
                    </a:solidFill>
                  </a:tcPr>
                </a:tc>
              </a:tr>
              <a:tr h="438912">
                <a:tc>
                  <a:txBody>
                    <a:bodyPr/>
                    <a:lstStyle/>
                    <a:p>
                      <a:pPr indent="0" marL="0">
                        <a:buNone/>
                      </a:pPr>
                      <a:r>
                        <a:rPr lang="en-US" sz="1300" b="1" dirty="0">
                          <a:solidFill>
                            <a:srgbClr val="13232B"/>
                          </a:solidFill>
                          <a:latin typeface="Courier New" pitchFamily="34" charset="0"/>
                          <a:ea typeface="Courier New" pitchFamily="34" charset="-122"/>
                          <a:cs typeface="Courier New" pitchFamily="34" charset="-120"/>
                        </a:rPr>
                        <a:t>quarterly_features.csv</a:t>
                      </a:r>
                      <a:endParaRPr lang="en-US" sz="1300" dirty="0">
                        <a:latin typeface="Courier New" charset="0"/>
                        <a:ea typeface="Courier New" charset="0"/>
                        <a:cs typeface="Courier New"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company × quarter</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1,334 × 94</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r>
              <a:tr h="438912">
                <a:tc>
                  <a:txBody>
                    <a:bodyPr/>
                    <a:lstStyle/>
                    <a:p>
                      <a:pPr indent="0" marL="0">
                        <a:buNone/>
                      </a:pPr>
                      <a:r>
                        <a:rPr lang="en-US" sz="1300" b="1" dirty="0">
                          <a:solidFill>
                            <a:srgbClr val="13232B"/>
                          </a:solidFill>
                          <a:latin typeface="Courier New" pitchFamily="34" charset="0"/>
                          <a:ea typeface="Courier New" pitchFamily="34" charset="-122"/>
                          <a:cs typeface="Courier New" pitchFamily="34" charset="-120"/>
                        </a:rPr>
                        <a:t>annual_features.csv</a:t>
                      </a:r>
                      <a:endParaRPr lang="en-US" sz="1300" dirty="0">
                        <a:latin typeface="Courier New" charset="0"/>
                        <a:ea typeface="Courier New" charset="0"/>
                        <a:cs typeface="Courier New"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company × year</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323 × 48</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indent="0" marL="0">
                        <a:buNone/>
                      </a:pPr>
                      <a:r>
                        <a:rPr lang="en-US" sz="1300" b="1" dirty="0">
                          <a:solidFill>
                            <a:srgbClr val="13232B"/>
                          </a:solidFill>
                          <a:latin typeface="Courier New" pitchFamily="34" charset="0"/>
                          <a:ea typeface="Courier New" pitchFamily="34" charset="-122"/>
                          <a:cs typeface="Courier New" pitchFamily="34" charset="-120"/>
                        </a:rPr>
                        <a:t>facts_long.csv</a:t>
                      </a:r>
                      <a:endParaRPr lang="en-US" sz="1300" dirty="0">
                        <a:latin typeface="Courier New" charset="0"/>
                        <a:ea typeface="Courier New" charset="0"/>
                        <a:cs typeface="Courier New"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one XBRL fact</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47,514 × 17</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r>
              <a:tr h="438912">
                <a:tc>
                  <a:txBody>
                    <a:bodyPr/>
                    <a:lstStyle/>
                    <a:p>
                      <a:pPr indent="0" marL="0">
                        <a:buNone/>
                      </a:pPr>
                      <a:r>
                        <a:rPr lang="en-US" sz="1300" b="1" dirty="0">
                          <a:solidFill>
                            <a:srgbClr val="13232B"/>
                          </a:solidFill>
                          <a:latin typeface="Courier New" pitchFamily="34" charset="0"/>
                          <a:ea typeface="Courier New" pitchFamily="34" charset="-122"/>
                          <a:cs typeface="Courier New" pitchFamily="34" charset="-120"/>
                        </a:rPr>
                        <a:t>coverage_report.csv</a:t>
                      </a:r>
                      <a:endParaRPr lang="en-US" sz="1300" dirty="0">
                        <a:latin typeface="Courier New" charset="0"/>
                        <a:ea typeface="Courier New" charset="0"/>
                        <a:cs typeface="Courier New"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26 rows</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indent="0" marL="0">
                        <a:buNone/>
                      </a:pPr>
                      <a:r>
                        <a:rPr lang="en-US" sz="1300" b="1" dirty="0">
                          <a:solidFill>
                            <a:srgbClr val="13232B"/>
                          </a:solidFill>
                          <a:latin typeface="Courier New" pitchFamily="34" charset="0"/>
                          <a:ea typeface="Courier New" pitchFamily="34" charset="-122"/>
                          <a:cs typeface="Courier New" pitchFamily="34" charset="-120"/>
                        </a:rPr>
                        <a:t>data_dictionary.csv</a:t>
                      </a:r>
                      <a:endParaRPr lang="en-US" sz="1300" dirty="0">
                        <a:latin typeface="Courier New" charset="0"/>
                        <a:ea typeface="Courier New" charset="0"/>
                        <a:cs typeface="Courier New"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128 documented</a:t>
                      </a:r>
                      <a:endParaRPr lang="en-US" sz="1300" dirty="0">
                        <a:latin typeface="Calibri" charset="0"/>
                        <a:ea typeface="Calibri" charset="0"/>
                        <a:cs typeface="Calibri" charset="0"/>
                      </a:endParaRPr>
                    </a:p>
                  </a:txBody>
                  <a:tcPr marL="109728" marR="91440" marT="0" marB="0" anchor="ctr">
                    <a:lnL w="0" cap="flat" cmpd="sng" algn="ctr">
                      <a:noFill/>
                    </a:lnL>
                    <a:lnR w="0" cap="flat" cmpd="sng" algn="ctr">
                      <a:noFill/>
                    </a:lnR>
                    <a:lnT w="0" cap="flat" cmpd="sng" algn="ctr">
                      <a:noFill/>
                    </a:lnT>
                    <a:lnB w="0" cap="flat" cmpd="sng" algn="ctr">
                      <a:noFill/>
                    </a:lnB>
                    <a:solidFill>
                      <a:srgbClr val="F1F4F4"/>
                    </a:solidFill>
                  </a:tcPr>
                </a:tc>
              </a:tr>
            </a:tbl>
          </a:graphicData>
        </a:graphic>
      </p:graphicFrame>
      <p:sp>
        <p:nvSpPr>
          <p:cNvPr id="7" name="Text 4"/>
          <p:cNvSpPr txBox="1"/>
          <p:nvPr/>
        </p:nvSpPr>
        <p:spPr>
          <a:xfrm>
            <a:off x="5760720" y="4754880"/>
            <a:ext cx="5882335" cy="914400"/>
          </a:xfrm>
          <a:prstGeom prst="rect">
            <a:avLst/>
          </a:prstGeom>
          <a:noFill/>
          <a:ln/>
        </p:spPr>
        <p:txBody>
          <a:bodyPr wrap="square" lIns="0" tIns="0" rIns="0" bIns="0" rtlCol="0" anchor="t"/>
          <a:lstStyle/>
          <a:p>
            <a:pPr indent="0" marL="0">
              <a:buNone/>
            </a:pPr>
            <a:r>
              <a:rPr lang="en-US" sz="1400" dirty="0">
                <a:solidFill>
                  <a:srgbClr val="5E6E75"/>
                </a:solidFill>
                <a:latin typeface="Calibri" pitchFamily="34" charset="0"/>
                <a:ea typeface="Calibri" pitchFamily="34" charset="-122"/>
                <a:cs typeface="Calibri" pitchFamily="34" charset="-120"/>
              </a:rPr>
              <a:t>Tested offline against simulated EDGAR responses (YTD reporting, 52-week years, tag switches, restatements, spin-off recasts). Raw downloads are cached and git-ignored.</a:t>
            </a:r>
            <a:endParaRPr lang="en-US" sz="1400" dirty="0"/>
          </a:p>
        </p:txBody>
      </p:sp>
      <p:sp>
        <p:nvSpPr>
          <p:cNvPr id="8" name="Text 5"/>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5E6E75"/>
                </a:solidFill>
                <a:latin typeface="Calibri" pitchFamily="34" charset="0"/>
                <a:ea typeface="Calibri" pitchFamily="34" charset="-122"/>
                <a:cs typeface="Calibri" pitchFamily="34" charset="-120"/>
              </a:rPr>
              <a:t>SEC Filing Anomaly Detection  ·  Deliverable 1: Data Extraction</a:t>
            </a:r>
            <a:endParaRPr lang="en-US" sz="1000" dirty="0"/>
          </a:p>
        </p:txBody>
      </p:sp>
      <p:sp>
        <p:nvSpPr>
          <p:cNvPr id="9" name="Text 6"/>
          <p:cNvSpPr txBox="1"/>
          <p:nvPr/>
        </p:nvSpPr>
        <p:spPr>
          <a:xfrm>
            <a:off x="11185855" y="6400800"/>
            <a:ext cx="457200" cy="22860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32B"/>
        </a:solidFill>
      </p:bgPr>
    </p:bg>
    <p:spTree>
      <p:nvGrpSpPr>
        <p:cNvPr id="1" name=""/>
        <p:cNvGrpSpPr/>
        <p:nvPr/>
      </p:nvGrpSpPr>
      <p:grpSpPr>
        <a:xfrm>
          <a:off x="0" y="0"/>
          <a:ext cx="0" cy="0"/>
          <a:chOff x="0" y="0"/>
          <a:chExt cx="0" cy="0"/>
        </a:xfrm>
      </p:grpSpPr>
      <p:sp>
        <p:nvSpPr>
          <p:cNvPr id="2" name="Text 0"/>
          <p:cNvSpPr txBox="1"/>
          <p:nvPr/>
        </p:nvSpPr>
        <p:spPr>
          <a:xfrm>
            <a:off x="548640" y="548640"/>
            <a:ext cx="9144000" cy="320040"/>
          </a:xfrm>
          <a:prstGeom prst="rect">
            <a:avLst/>
          </a:prstGeom>
          <a:noFill/>
          <a:ln/>
        </p:spPr>
        <p:txBody>
          <a:bodyPr wrap="square" lIns="0" tIns="0" rIns="0" bIns="0" rtlCol="0" anchor="ctr"/>
          <a:lstStyle/>
          <a:p>
            <a:pPr indent="0" marL="0">
              <a:buNone/>
            </a:pPr>
            <a:r>
              <a:rPr lang="en-US" sz="1400" b="1" spc="400" kern="0" dirty="0">
                <a:solidFill>
                  <a:srgbClr val="E3A03A"/>
                </a:solidFill>
                <a:latin typeface="Calibri" pitchFamily="34" charset="0"/>
                <a:ea typeface="Calibri" pitchFamily="34" charset="-122"/>
                <a:cs typeface="Calibri" pitchFamily="34" charset="-120"/>
              </a:rPr>
              <a:t>NEXT: DELIVERABLE 2</a:t>
            </a:r>
            <a:endParaRPr lang="en-US" sz="1400" dirty="0"/>
          </a:p>
        </p:txBody>
      </p:sp>
      <p:sp>
        <p:nvSpPr>
          <p:cNvPr id="3" name="Text 1"/>
          <p:cNvSpPr txBox="1"/>
          <p:nvPr/>
        </p:nvSpPr>
        <p:spPr>
          <a:xfrm>
            <a:off x="548640" y="868680"/>
            <a:ext cx="109728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From features to anomaly scores</a:t>
            </a:r>
            <a:endParaRPr lang="en-US" sz="3800" dirty="0"/>
          </a:p>
        </p:txBody>
      </p:sp>
      <p:sp>
        <p:nvSpPr>
          <p:cNvPr id="4" name="Shape 2"/>
          <p:cNvSpPr/>
          <p:nvPr/>
        </p:nvSpPr>
        <p:spPr>
          <a:xfrm>
            <a:off x="548640" y="2148840"/>
            <a:ext cx="3520440" cy="2743200"/>
          </a:xfrm>
          <a:prstGeom prst="rect">
            <a:avLst/>
          </a:prstGeom>
          <a:solidFill>
            <a:srgbClr val="203A45"/>
          </a:solidFill>
          <a:ln w="12700">
            <a:solidFill>
              <a:srgbClr val="203A45"/>
            </a:solidFill>
            <a:prstDash val="solid"/>
          </a:ln>
        </p:spPr>
      </p:sp>
      <p:sp>
        <p:nvSpPr>
          <p:cNvPr id="5" name="Shape 3"/>
          <p:cNvSpPr/>
          <p:nvPr/>
        </p:nvSpPr>
        <p:spPr>
          <a:xfrm>
            <a:off x="868680" y="2468880"/>
            <a:ext cx="685800" cy="685800"/>
          </a:xfrm>
          <a:prstGeom prst="ellipse">
            <a:avLst/>
          </a:prstGeom>
          <a:solidFill>
            <a:srgbClr val="13232B"/>
          </a:solidFill>
          <a:ln w="12700">
            <a:solidFill>
              <a:srgbClr val="13232B"/>
            </a:solidFill>
            <a:prstDash val="solid"/>
          </a:ln>
        </p:spPr>
      </p:sp>
      <p:pic>
        <p:nvPicPr>
          <p:cNvPr id="6" name="Image 0" descr="preencoded.png">    </p:cNvPr>
          <p:cNvPicPr>
            <a:picLocks noChangeAspect="1"/>
          </p:cNvPicPr>
          <p:nvPr/>
        </p:nvPicPr>
        <p:blipFill>
          <a:blip r:embed="rId1"/>
          <a:stretch>
            <a:fillRect/>
          </a:stretch>
        </p:blipFill>
        <p:spPr>
          <a:xfrm>
            <a:off x="1046988" y="2647188"/>
            <a:ext cx="329184" cy="329184"/>
          </a:xfrm>
          <a:prstGeom prst="rect">
            <a:avLst/>
          </a:prstGeom>
        </p:spPr>
      </p:pic>
      <p:sp>
        <p:nvSpPr>
          <p:cNvPr id="7" name="Text 4"/>
          <p:cNvSpPr txBox="1"/>
          <p:nvPr/>
        </p:nvSpPr>
        <p:spPr>
          <a:xfrm>
            <a:off x="868680" y="3337560"/>
            <a:ext cx="28803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Z-score baseline</a:t>
            </a:r>
            <a:endParaRPr lang="en-US" sz="2000" dirty="0"/>
          </a:p>
        </p:txBody>
      </p:sp>
      <p:sp>
        <p:nvSpPr>
          <p:cNvPr id="8" name="Text 5"/>
          <p:cNvSpPr txBox="1"/>
          <p:nvPr/>
        </p:nvSpPr>
        <p:spPr>
          <a:xfrm>
            <a:off x="868680" y="3840480"/>
            <a:ext cx="2880360" cy="960120"/>
          </a:xfrm>
          <a:prstGeom prst="rect">
            <a:avLst/>
          </a:prstGeom>
          <a:noFill/>
          <a:ln/>
        </p:spPr>
        <p:txBody>
          <a:bodyPr wrap="square" lIns="0" tIns="0" rIns="0" bIns="0" rtlCol="0" anchor="t"/>
          <a:lstStyle/>
          <a:p>
            <a:pPr indent="0" marL="0">
              <a:buNone/>
            </a:pPr>
            <a:r>
              <a:rPr lang="en-US" sz="1400" dirty="0">
                <a:solidFill>
                  <a:srgbClr val="C9D3D6"/>
                </a:solidFill>
                <a:latin typeface="Calibri" pitchFamily="34" charset="0"/>
                <a:ea typeface="Calibri" pitchFamily="34" charset="-122"/>
                <a:cs typeface="Calibri" pitchFamily="34" charset="-120"/>
              </a:rPr>
              <a:t>Rank quarters on the trailing and robust Z-scores already in the dataset.</a:t>
            </a:r>
            <a:endParaRPr lang="en-US" sz="1400" dirty="0"/>
          </a:p>
        </p:txBody>
      </p:sp>
      <p:sp>
        <p:nvSpPr>
          <p:cNvPr id="9" name="Shape 6"/>
          <p:cNvSpPr/>
          <p:nvPr/>
        </p:nvSpPr>
        <p:spPr>
          <a:xfrm>
            <a:off x="4343400" y="2148840"/>
            <a:ext cx="3520440" cy="2743200"/>
          </a:xfrm>
          <a:prstGeom prst="rect">
            <a:avLst/>
          </a:prstGeom>
          <a:solidFill>
            <a:srgbClr val="203A45"/>
          </a:solidFill>
          <a:ln w="12700">
            <a:solidFill>
              <a:srgbClr val="203A45"/>
            </a:solidFill>
            <a:prstDash val="solid"/>
          </a:ln>
        </p:spPr>
      </p:sp>
      <p:sp>
        <p:nvSpPr>
          <p:cNvPr id="10" name="Shape 7"/>
          <p:cNvSpPr/>
          <p:nvPr/>
        </p:nvSpPr>
        <p:spPr>
          <a:xfrm>
            <a:off x="4663440" y="2468880"/>
            <a:ext cx="685800" cy="685800"/>
          </a:xfrm>
          <a:prstGeom prst="ellipse">
            <a:avLst/>
          </a:prstGeom>
          <a:solidFill>
            <a:srgbClr val="13232B"/>
          </a:solidFill>
          <a:ln w="12700">
            <a:solidFill>
              <a:srgbClr val="13232B"/>
            </a:solidFill>
            <a:prstDash val="solid"/>
          </a:ln>
        </p:spPr>
      </p:sp>
      <p:pic>
        <p:nvPicPr>
          <p:cNvPr id="11" name="Image 1" descr="preencoded.png">    </p:cNvPr>
          <p:cNvPicPr>
            <a:picLocks noChangeAspect="1"/>
          </p:cNvPicPr>
          <p:nvPr/>
        </p:nvPicPr>
        <p:blipFill>
          <a:blip r:embed="rId2"/>
          <a:stretch>
            <a:fillRect/>
          </a:stretch>
        </p:blipFill>
        <p:spPr>
          <a:xfrm>
            <a:off x="4841748" y="2647188"/>
            <a:ext cx="329184" cy="329184"/>
          </a:xfrm>
          <a:prstGeom prst="rect">
            <a:avLst/>
          </a:prstGeom>
        </p:spPr>
      </p:pic>
      <p:sp>
        <p:nvSpPr>
          <p:cNvPr id="12" name="Text 8"/>
          <p:cNvSpPr txBox="1"/>
          <p:nvPr/>
        </p:nvSpPr>
        <p:spPr>
          <a:xfrm>
            <a:off x="4663440" y="3337560"/>
            <a:ext cx="28803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Isolation Forest</a:t>
            </a:r>
            <a:endParaRPr lang="en-US" sz="2000" dirty="0"/>
          </a:p>
        </p:txBody>
      </p:sp>
      <p:sp>
        <p:nvSpPr>
          <p:cNvPr id="13" name="Text 9"/>
          <p:cNvSpPr txBox="1"/>
          <p:nvPr/>
        </p:nvSpPr>
        <p:spPr>
          <a:xfrm>
            <a:off x="4663440" y="3840480"/>
            <a:ext cx="2880360" cy="960120"/>
          </a:xfrm>
          <a:prstGeom prst="rect">
            <a:avLst/>
          </a:prstGeom>
          <a:noFill/>
          <a:ln/>
        </p:spPr>
        <p:txBody>
          <a:bodyPr wrap="square" lIns="0" tIns="0" rIns="0" bIns="0" rtlCol="0" anchor="t"/>
          <a:lstStyle/>
          <a:p>
            <a:pPr indent="0" marL="0">
              <a:buNone/>
            </a:pPr>
            <a:r>
              <a:rPr lang="en-US" sz="1400" dirty="0">
                <a:solidFill>
                  <a:srgbClr val="C9D3D6"/>
                </a:solidFill>
                <a:latin typeface="Calibri" pitchFamily="34" charset="0"/>
                <a:ea typeface="Calibri" pitchFamily="34" charset="-122"/>
                <a:cs typeface="Calibri" pitchFamily="34" charset="-120"/>
              </a:rPr>
              <a:t>Train on company-standardised ratio features, excluding flagged rows; control for fiscal quarter.</a:t>
            </a:r>
            <a:endParaRPr lang="en-US" sz="1400" dirty="0"/>
          </a:p>
        </p:txBody>
      </p:sp>
      <p:sp>
        <p:nvSpPr>
          <p:cNvPr id="14" name="Shape 10"/>
          <p:cNvSpPr/>
          <p:nvPr/>
        </p:nvSpPr>
        <p:spPr>
          <a:xfrm>
            <a:off x="8138160" y="2148840"/>
            <a:ext cx="3520440" cy="2743200"/>
          </a:xfrm>
          <a:prstGeom prst="rect">
            <a:avLst/>
          </a:prstGeom>
          <a:solidFill>
            <a:srgbClr val="203A45"/>
          </a:solidFill>
          <a:ln w="12700">
            <a:solidFill>
              <a:srgbClr val="203A45"/>
            </a:solidFill>
            <a:prstDash val="solid"/>
          </a:ln>
        </p:spPr>
      </p:sp>
      <p:sp>
        <p:nvSpPr>
          <p:cNvPr id="15" name="Shape 11"/>
          <p:cNvSpPr/>
          <p:nvPr/>
        </p:nvSpPr>
        <p:spPr>
          <a:xfrm>
            <a:off x="8458200" y="2468880"/>
            <a:ext cx="685800" cy="685800"/>
          </a:xfrm>
          <a:prstGeom prst="ellipse">
            <a:avLst/>
          </a:prstGeom>
          <a:solidFill>
            <a:srgbClr val="13232B"/>
          </a:solidFill>
          <a:ln w="12700">
            <a:solidFill>
              <a:srgbClr val="13232B"/>
            </a:solidFill>
            <a:prstDash val="solid"/>
          </a:ln>
        </p:spPr>
      </p:sp>
      <p:pic>
        <p:nvPicPr>
          <p:cNvPr id="16" name="Image 2" descr="preencoded.png">    </p:cNvPr>
          <p:cNvPicPr>
            <a:picLocks noChangeAspect="1"/>
          </p:cNvPicPr>
          <p:nvPr/>
        </p:nvPicPr>
        <p:blipFill>
          <a:blip r:embed="rId3"/>
          <a:stretch>
            <a:fillRect/>
          </a:stretch>
        </p:blipFill>
        <p:spPr>
          <a:xfrm>
            <a:off x="8636508" y="2647188"/>
            <a:ext cx="329184" cy="329184"/>
          </a:xfrm>
          <a:prstGeom prst="rect">
            <a:avLst/>
          </a:prstGeom>
        </p:spPr>
      </p:pic>
      <p:sp>
        <p:nvSpPr>
          <p:cNvPr id="17" name="Text 12"/>
          <p:cNvSpPr txBox="1"/>
          <p:nvPr/>
        </p:nvSpPr>
        <p:spPr>
          <a:xfrm>
            <a:off x="8458200" y="3337560"/>
            <a:ext cx="28803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Evaluate</a:t>
            </a:r>
            <a:endParaRPr lang="en-US" sz="2000" dirty="0"/>
          </a:p>
        </p:txBody>
      </p:sp>
      <p:sp>
        <p:nvSpPr>
          <p:cNvPr id="18" name="Text 13"/>
          <p:cNvSpPr txBox="1"/>
          <p:nvPr/>
        </p:nvSpPr>
        <p:spPr>
          <a:xfrm>
            <a:off x="8458200" y="3840480"/>
            <a:ext cx="2880360" cy="960120"/>
          </a:xfrm>
          <a:prstGeom prst="rect">
            <a:avLst/>
          </a:prstGeom>
          <a:noFill/>
          <a:ln/>
        </p:spPr>
        <p:txBody>
          <a:bodyPr wrap="square" lIns="0" tIns="0" rIns="0" bIns="0" rtlCol="0" anchor="t"/>
          <a:lstStyle/>
          <a:p>
            <a:pPr indent="0" marL="0">
              <a:buNone/>
            </a:pPr>
            <a:r>
              <a:rPr lang="en-US" sz="1400" dirty="0">
                <a:solidFill>
                  <a:srgbClr val="C9D3D6"/>
                </a:solidFill>
                <a:latin typeface="Calibri" pitchFamily="34" charset="0"/>
                <a:ea typeface="Calibri" pitchFamily="34" charset="-122"/>
                <a:cs typeface="Calibri" pitchFamily="34" charset="-120"/>
              </a:rPr>
              <a:t>Compare scores for reference vs control companies and around known event windows.</a:t>
            </a:r>
            <a:endParaRPr lang="en-US" sz="1400" dirty="0"/>
          </a:p>
        </p:txBody>
      </p:sp>
      <p:sp>
        <p:nvSpPr>
          <p:cNvPr id="19" name="Text 14"/>
          <p:cNvSpPr txBox="1"/>
          <p:nvPr/>
        </p:nvSpPr>
        <p:spPr>
          <a:xfrm>
            <a:off x="548640" y="5440680"/>
            <a:ext cx="10972800" cy="457200"/>
          </a:xfrm>
          <a:prstGeom prst="rect">
            <a:avLst/>
          </a:prstGeom>
          <a:noFill/>
          <a:ln/>
        </p:spPr>
        <p:txBody>
          <a:bodyPr wrap="square" lIns="0" tIns="0" rIns="0" bIns="0" rtlCol="0" anchor="ctr"/>
          <a:lstStyle/>
          <a:p>
            <a:pPr indent="0" marL="0">
              <a:buNone/>
            </a:pPr>
            <a:r>
              <a:rPr lang="en-US" sz="1800" i="1" dirty="0">
                <a:solidFill>
                  <a:srgbClr val="E3A03A"/>
                </a:solidFill>
                <a:latin typeface="Calibri" pitchFamily="34" charset="0"/>
                <a:ea typeface="Calibri" pitchFamily="34" charset="-122"/>
                <a:cs typeface="Calibri" pitchFamily="34" charset="-120"/>
              </a:rPr>
              <a:t>The dataset is ready: clean, point-in-time, documented, and already surfacing real events.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Financial Anomalies in SEC Filings — Deliverable 1</dc:title>
  <dc:subject>PptxGenJS Presentation</dc:subject>
  <dc:creator>PptxGenJS</dc:creator>
  <cp:lastModifiedBy>PptxGenJS</cp:lastModifiedBy>
  <cp:revision>1</cp:revision>
  <dcterms:created xsi:type="dcterms:W3CDTF">2026-09-28T17:07:59Z</dcterms:created>
  <dcterms:modified xsi:type="dcterms:W3CDTF">2026-09-28T17:07:59Z</dcterms:modified>
</cp:coreProperties>
</file>